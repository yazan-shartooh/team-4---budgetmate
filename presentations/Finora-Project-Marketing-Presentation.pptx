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cdbd21e5924004" /><Relationship Type="http://schemas.openxmlformats.org/officeDocument/2006/relationships/extended-properties" Target="/docProps/app.xml" Id="Re6b9caa657554ff6" /><Relationship Type="http://schemas.openxmlformats.org/officeDocument/2006/relationships/officeDocument" Target="/ppt/presentation.xml" Id="R9cc2287fdece4f52" /></Relationships>
</file>

<file path=ppt/presentation.xml><?xml version="1.0" encoding="utf-8"?>
<p:presentation xmlns:p="http://schemas.openxmlformats.org/presentationml/2006/main">
  <p:sldMasterIdLst>
    <p:sldMasterId xmlns:r="http://schemas.openxmlformats.org/officeDocument/2006/relationships" id="2147483648" r:id="R20a43c5611a44c52"/>
  </p:sldMasterIdLst>
  <p:notesMasterIdLst>
    <p:notesMasterId xmlns:r="http://schemas.openxmlformats.org/officeDocument/2006/relationships" r:id="Rf9dc70edcaed44f0"/>
  </p:notesMasterIdLst>
  <p:sldIdLst>
    <p:sldId xmlns:r="http://schemas.openxmlformats.org/officeDocument/2006/relationships" id="256" r:id="R37c8ec649e104dcb"/>
    <p:sldId xmlns:r="http://schemas.openxmlformats.org/officeDocument/2006/relationships" id="257" r:id="Rc10b7eb66d6446ca"/>
    <p:sldId xmlns:r="http://schemas.openxmlformats.org/officeDocument/2006/relationships" id="258" r:id="R11845cc76b354117"/>
    <p:sldId xmlns:r="http://schemas.openxmlformats.org/officeDocument/2006/relationships" id="259" r:id="R40dc4b1fbc73453b"/>
    <p:sldId xmlns:r="http://schemas.openxmlformats.org/officeDocument/2006/relationships" id="260" r:id="Rd5575dae0c024c4f"/>
    <p:sldId xmlns:r="http://schemas.openxmlformats.org/officeDocument/2006/relationships" id="261" r:id="R8f793d43f3d64649"/>
    <p:sldId xmlns:r="http://schemas.openxmlformats.org/officeDocument/2006/relationships" id="262" r:id="R8609d57fca214968"/>
    <p:sldId xmlns:r="http://schemas.openxmlformats.org/officeDocument/2006/relationships" id="263" r:id="R86f859b6a4424dbe"/>
    <p:sldId xmlns:r="http://schemas.openxmlformats.org/officeDocument/2006/relationships" id="264" r:id="Rf7b65a174d9946f1"/>
    <p:sldId xmlns:r="http://schemas.openxmlformats.org/officeDocument/2006/relationships" id="265" r:id="R7e4c5975fd12454f"/>
    <p:sldId xmlns:r="http://schemas.openxmlformats.org/officeDocument/2006/relationships" id="266" r:id="Rd7bbcb731abc4a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f14f80889043d8" /><Relationship Type="http://schemas.openxmlformats.org/officeDocument/2006/relationships/slideMaster" Target="/ppt/slideMasters/slideMaster1.xml" Id="R20a43c5611a44c52" /><Relationship Type="http://schemas.openxmlformats.org/officeDocument/2006/relationships/notesMaster" Target="/ppt/notesMasters/notesMaster1.xml" Id="Rf9dc70edcaed44f0" /><Relationship Type="http://schemas.openxmlformats.org/officeDocument/2006/relationships/presProps" Target="/ppt/presProps.xml" Id="R58b22bc556154fc3" /><Relationship Type="http://schemas.openxmlformats.org/officeDocument/2006/relationships/tableStyles" Target="/ppt/tableStyles.xml" Id="Rc6ec8ab133db4de7" /><Relationship Type="http://schemas.openxmlformats.org/officeDocument/2006/relationships/slide" Target="/ppt/slides/slide1.xml" Id="R37c8ec649e104dcb" /><Relationship Type="http://schemas.openxmlformats.org/officeDocument/2006/relationships/slide" Target="/ppt/slides/slide2.xml" Id="Rc10b7eb66d6446ca" /><Relationship Type="http://schemas.openxmlformats.org/officeDocument/2006/relationships/slide" Target="/ppt/slides/slide3.xml" Id="R11845cc76b354117" /><Relationship Type="http://schemas.openxmlformats.org/officeDocument/2006/relationships/slide" Target="/ppt/slides/slide4.xml" Id="R40dc4b1fbc73453b" /><Relationship Type="http://schemas.openxmlformats.org/officeDocument/2006/relationships/slide" Target="/ppt/slides/slide5.xml" Id="Rd5575dae0c024c4f" /><Relationship Type="http://schemas.openxmlformats.org/officeDocument/2006/relationships/slide" Target="/ppt/slides/slide6.xml" Id="R8f793d43f3d64649" /><Relationship Type="http://schemas.openxmlformats.org/officeDocument/2006/relationships/slide" Target="/ppt/slides/slide7.xml" Id="R8609d57fca214968" /><Relationship Type="http://schemas.openxmlformats.org/officeDocument/2006/relationships/slide" Target="/ppt/slides/slide8.xml" Id="R86f859b6a4424dbe" /><Relationship Type="http://schemas.openxmlformats.org/officeDocument/2006/relationships/slide" Target="/ppt/slides/slide9.xml" Id="Rf7b65a174d9946f1" /><Relationship Type="http://schemas.openxmlformats.org/officeDocument/2006/relationships/slide" Target="/ppt/slides/slide10.xml" Id="R7e4c5975fd12454f" /><Relationship Type="http://schemas.openxmlformats.org/officeDocument/2006/relationships/slide" Target="/ppt/slides/slide11.xml" Id="Rd7bbcb731abc4a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9be38f48940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e984b1fa524352" /><Relationship Type="http://schemas.openxmlformats.org/officeDocument/2006/relationships/notesMaster" Target="/ppt/notesMasters/notesMaster1.xml" Id="R939ef71b74d840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f4a4f370184eb3" /><Relationship Type="http://schemas.openxmlformats.org/officeDocument/2006/relationships/notesMaster" Target="/ppt/notesMasters/notesMaster1.xml" Id="Ra3841a282863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586277f5dd4220" /><Relationship Type="http://schemas.openxmlformats.org/officeDocument/2006/relationships/notesMaster" Target="/ppt/notesMasters/notesMaster1.xml" Id="Rb1bd6d3768c64e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dfb1a77164612" /><Relationship Type="http://schemas.openxmlformats.org/officeDocument/2006/relationships/notesMaster" Target="/ppt/notesMasters/notesMaster1.xml" Id="R518e433580874f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de7cba45544a43" /><Relationship Type="http://schemas.openxmlformats.org/officeDocument/2006/relationships/notesMaster" Target="/ppt/notesMasters/notesMaster1.xml" Id="R5dc5eb70502441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0402f872fc42a8" /><Relationship Type="http://schemas.openxmlformats.org/officeDocument/2006/relationships/notesMaster" Target="/ppt/notesMasters/notesMaster1.xml" Id="Rf2e4251102714f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b08cc89bf645a8" /><Relationship Type="http://schemas.openxmlformats.org/officeDocument/2006/relationships/notesMaster" Target="/ppt/notesMasters/notesMaster1.xml" Id="Raf19b7480c75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7c60bea483412c" /><Relationship Type="http://schemas.openxmlformats.org/officeDocument/2006/relationships/notesMaster" Target="/ppt/notesMasters/notesMaster1.xml" Id="R1f8d6fabffff43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d206fdde314908" /><Relationship Type="http://schemas.openxmlformats.org/officeDocument/2006/relationships/notesMaster" Target="/ppt/notesMasters/notesMaster1.xml" Id="R43969a4193e545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725a873ff54f1f" /><Relationship Type="http://schemas.openxmlformats.org/officeDocument/2006/relationships/notesMaster" Target="/ppt/notesMasters/notesMaster1.xml" Id="R46e6673ddfa04a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9ac0a9480a4fa4" /><Relationship Type="http://schemas.openxmlformats.org/officeDocument/2006/relationships/notesMaster" Target="/ppt/notesMasters/notesMaster1.xml" Id="Rb1bc94776dde45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You work for your money. Keeping track of it should not feel like a second job. Meet Finora: a personal finance project that connects everyday spending with a monthly plan.</a:t>
            </a:r>
          </a:p>
          <a:p xmlns:a="http://schemas.openxmlformats.org/drawingml/2006/main">
            <a:r>
              <a:t>Bridge: But first, a familiar magic trick.</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Payday arrives and, for a moment, we all feel rich. Then come a coffee, a ride, another night out. Suddenly we are detectives trying to solve the case of our own missing money. The money did not vanish. We lost track of the small decisions behind the total.</a:t>
            </a:r>
          </a:p>
          <a:p xmlns:a="http://schemas.openxmlformats.org/drawingml/2006/main">
            <a:r>
              <a:t>Bridge: And the phrase that gets us into trouble? It’s only five dollars.</a:t>
            </a:r>
          </a:p>
          <a:p xmlns:a="http://schemas.openxmlformats.org/drawingml/2006/main">
            <a:r>
              <a:t>The disappearance and detective language are humorous exaggerations, not factual claims about user losses.</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Five dollars sounds harmless. Repeat one extra five-dollar purchase for thirty days and the total reaches 150 dollars. This is an illustrative calculation, not a coffee price, customer average or promised saving. The point is how easily the monthly total can hide behind a small daily amount. Finora makes recorded spending visible so the user can decide whether that purchase is worth it.</a:t>
            </a:r>
          </a:p>
          <a:p xmlns:a="http://schemas.openxmlformats.org/drawingml/2006/main">
            <a:r>
              <a:t>Bridge: Now imagine that same blind spot inside a monthly budget.</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Here is our fictional entertainment example: 125 dollars for concert tickets, then 100 dollars for dinner and cinema. Two enjoyable nights add up to 225 dollars, but the monthly plan was 200. Nothing mysterious happened. The total simply needed attention.</a:t>
            </a:r>
          </a:p>
          <a:p xmlns:a="http://schemas.openxmlformats.org/drawingml/2006/main">
            <a:r>
              <a:t>Bridge: That is exactly the gap Finora is designed to close.</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Finora connects the everyday questions with clear answers. What did I spend? The transaction list shows the entries. Am I over budget? Category status shows the difference. How did the month go? The report explains the full picture. Users record their spending, and Finora brings those records together.</a:t>
            </a:r>
          </a:p>
          <a:p xmlns:a="http://schemas.openxmlformats.org/drawingml/2006/main">
            <a:r>
              <a:t>Bridge: First, the view we all want after payday: where do I stand?</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In the sample month, recorded income is 5,250 dollars and expenses are 2,864 dollars. Their difference is 2,386 dollars, which the template calls monthly savings. This is the difference between recorded income and expenses, not proof of money held in a separate savings account. The dashboard image shows the intended prototype experience.</a:t>
            </a:r>
          </a:p>
          <a:p xmlns:a="http://schemas.openxmlformats.org/drawingml/2006/main">
            <a:r>
              <a:t/>
            </a:r>
          </a:p>
          <a:p xmlns:a="http://schemas.openxmlformats.org/drawingml/2006/main">
            <a:r>
              <a:t>Transition to the next slide: That overview depends on the everyday entries behind it.</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Users record an income or expense with an amount, date and category. The list keeps the entries together. Search and filters help find a transaction by month, type or category. Users can edit an incorrect entry or remove it. This makes it possible to trace a total back to its underlying purchases.</a:t>
            </a:r>
          </a:p>
          <a:p xmlns:a="http://schemas.openxmlformats.org/drawingml/2006/main">
            <a:r>
              <a:t/>
            </a:r>
          </a:p>
          <a:p xmlns:a="http://schemas.openxmlformats.org/drawingml/2006/main">
            <a:r>
              <a:t>Transition to the next slide: Once the spending is recorded, Finora can compare it with the plan.</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Return to the entertainment example. The budget is 200 dollars, and recorded spending is 225 dollars. Finora shows Exceeded and states that the category is 25 dollars over. Near-limit status appears from 80 percent through 100 percent, and spending above the limit is exceeded. The app reveals the situation so the user can review the next purchase. It does not guarantee savings or prevent spending.</a:t>
            </a:r>
          </a:p>
          <a:p xmlns:a="http://schemas.openxmlformats.org/drawingml/2006/main">
            <a:r>
              <a:t/>
            </a:r>
          </a:p>
          <a:p xmlns:a="http://schemas.openxmlformats.org/drawingml/2006/main">
            <a:r>
              <a:t>Transition to the next slide: The next question is what the complete month tells us.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The report shows the spending categories for the selected month. Housing is the largest in this fictional example: 1,400 dollars, or 48.9 percent of total spending. This helps the user understand the pattern and review next month’s budget. The totals describe the recorded data and do not prescribe what someone should spend.</a:t>
            </a:r>
          </a:p>
          <a:p xmlns:a="http://schemas.openxmlformats.org/drawingml/2006/main">
            <a:r>
              <a:t/>
            </a:r>
          </a:p>
          <a:p xmlns:a="http://schemas.openxmlformats.org/drawingml/2006/main">
            <a:r>
              <a:t>Transition to the next slide: These features lead to a practical question: why would someone choose Finora?</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Why bring Finora into your day? Because it gives a practical job to the numbers. Search helps you find the purchase behind a total. Budgets make your own limits visible. Editing and monthly review let the plan evolve with your life. You keep the choices. Finora supplies context.</a:t>
            </a:r>
          </a:p>
          <a:p xmlns:a="http://schemas.openxmlformats.org/drawingml/2006/main">
            <a:r>
              <a:t>Bridge: So, before we finish, one message from your money.</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seconds, then invite the audience to the demo.</a:t>
            </a:r>
          </a:p>
          <a:p xmlns:a="http://schemas.openxmlformats.org/drawingml/2006/main">
            <a:r>
              <a:t>Your money called. It wants a game plan. Pause, smile, and ask: Ready to give it one? Invite the audience to try Finora with one expense, check the category budget, and see the monthly result.</a:t>
            </a:r>
          </a:p>
          <a:p xmlns:a="http://schemas.openxmlformats.org/drawingml/2006/main">
            <a:r>
              <a:t>No confirmed download or public demo URL was provided. The on-slide invitation directs people to the team demo. If asked about readiness: the main app has connected transactions, budgets and monthly reports. Dashboard and Income pages remain in progress. The standalone template resets on reload, and backend data resets on server restart.</a:t>
            </a:r>
          </a:p>
          <a:p xmlns:a="http://schemas.openxmlformats.org/drawingml/2006/main">
            <a:r>
              <a:t>Project sources: finora-template/README.md, finora-template/src/App.tsx, finora-template/src/data.ts and finora/client/README.md. Screens use fictional prototype data in USD. Finora helps users understand recorded transactions. No bank connection, guaranteed savings, public release or measured customer outcome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278f1a3dc45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d43a0446574a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e881cd946045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a9560ca15b4a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c6516bf8b14a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f2910275834f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62AB10-8A74-4CAD-BFE4-8967A867C9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AEAD3-941B-47C9-8D5A-8B31060BC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2E18BD-8BD4-4F23-BF39-C8A5641E83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4B3556-4126-4224-BE24-6588D4CD3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3470A9-09E2-42B8-A04B-DD6F661A0D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DEC83C-04BF-43FB-B5C2-3A1EB41DC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0428C-B156-446C-AC8A-DD4DACFD5E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7116A-8B19-4FF1-A7FD-731D4EC69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545F2-FA24-461F-9FD4-696C98021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1DD3E9-A5C3-42F3-B658-57CDBA420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bf447a9e754717" /><Relationship Type="http://schemas.openxmlformats.org/officeDocument/2006/relationships/slideLayout" Target="/ppt/slideLayouts/slideLayout1.xml" Id="R83dd57f390fd455b" /><Relationship Type="http://schemas.openxmlformats.org/officeDocument/2006/relationships/slideLayout" Target="/ppt/slideLayouts/slideLayout2.xml" Id="Re532feb07e2341bb" /><Relationship Type="http://schemas.openxmlformats.org/officeDocument/2006/relationships/slideLayout" Target="/ppt/slideLayouts/slideLayout3.xml" Id="Rb41937a21e334804" /><Relationship Type="http://schemas.openxmlformats.org/officeDocument/2006/relationships/slideLayout" Target="/ppt/slideLayouts/slideLayout4.xml" Id="R0320083b464946a6" /><Relationship Type="http://schemas.openxmlformats.org/officeDocument/2006/relationships/slideLayout" Target="/ppt/slideLayouts/slideLayout5.xml" Id="R34b592bf3f0c4203" /><Relationship Type="http://schemas.openxmlformats.org/officeDocument/2006/relationships/slideLayout" Target="/ppt/slideLayouts/slideLayout6.xml" Id="Rc2cfe945c3204f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dd57f390fd455b"/>
    <p:sldLayoutId xmlns:r="http://schemas.openxmlformats.org/officeDocument/2006/relationships" id="2147483650" r:id="Re532feb07e2341bb"/>
    <p:sldLayoutId xmlns:r="http://schemas.openxmlformats.org/officeDocument/2006/relationships" id="2147483651" r:id="Rb41937a21e334804"/>
    <p:sldLayoutId xmlns:r="http://schemas.openxmlformats.org/officeDocument/2006/relationships" id="2147483652" r:id="R0320083b464946a6"/>
    <p:sldLayoutId xmlns:r="http://schemas.openxmlformats.org/officeDocument/2006/relationships" id="2147483653" r:id="R34b592bf3f0c4203"/>
    <p:sldLayoutId xmlns:r="http://schemas.openxmlformats.org/officeDocument/2006/relationships" id="2147483654" r:id="Rc2cfe945c3204f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dc01d1d3d245c2" /><Relationship Type="http://schemas.openxmlformats.org/officeDocument/2006/relationships/image" Target="/ppt/media/image.png" Id="R43e7ebee1aee4210" /><Relationship Type="http://schemas.openxmlformats.org/officeDocument/2006/relationships/image" Target="/ppt/media/image2.png" Id="Ree0f784d48e14aa0" /><Relationship Type="http://schemas.openxmlformats.org/officeDocument/2006/relationships/image" Target="/ppt/media/image3.png" Id="R86db6adc24f7493f" /><Relationship Type="http://schemas.openxmlformats.org/officeDocument/2006/relationships/notesSlide" Target="/ppt/notesSlides/notesSlide1.xml" Id="R16e290ff3a674a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e11000fc374006" /><Relationship Type="http://schemas.openxmlformats.org/officeDocument/2006/relationships/notesSlide" Target="/ppt/notesSlides/notesSlide2.xml" Id="Rc0f8c7fc544a42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5fbfd81c804611" /><Relationship Type="http://schemas.openxmlformats.org/officeDocument/2006/relationships/image" Target="/ppt/media/image4.png" Id="R90108c6b597644fb" /><Relationship Type="http://schemas.openxmlformats.org/officeDocument/2006/relationships/image" Target="/ppt/media/image5.png" Id="Rfebfd6dad4684262" /><Relationship Type="http://schemas.openxmlformats.org/officeDocument/2006/relationships/notesSlide" Target="/ppt/notesSlides/notesSlide3.xml" Id="Ra728b9fe105348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2484cc57b54372" /><Relationship Type="http://schemas.openxmlformats.org/officeDocument/2006/relationships/image" Target="/ppt/media/image6.png" Id="R930cda9d5a044331" /><Relationship Type="http://schemas.openxmlformats.org/officeDocument/2006/relationships/image" Target="/ppt/media/image7.png" Id="R1dd74d688f38480c" /><Relationship Type="http://schemas.openxmlformats.org/officeDocument/2006/relationships/notesSlide" Target="/ppt/notesSlides/notesSlide4.xml" Id="R24c1e634e9bf4e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c71e0d97a840c5" /><Relationship Type="http://schemas.openxmlformats.org/officeDocument/2006/relationships/image" Target="/ppt/media/image8.png" Id="Rad5cb6618c3d4a62" /><Relationship Type="http://schemas.openxmlformats.org/officeDocument/2006/relationships/image" Target="/ppt/media/image9.png" Id="R804b338fdf5b41d4" /><Relationship Type="http://schemas.openxmlformats.org/officeDocument/2006/relationships/notesSlide" Target="/ppt/notesSlides/notesSlide5.xml" Id="R2656787587a54e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01b4663a494c42" /><Relationship Type="http://schemas.openxmlformats.org/officeDocument/2006/relationships/image" Target="/ppt/media/image10.png" Id="Re698bb3f7ede4f77" /><Relationship Type="http://schemas.openxmlformats.org/officeDocument/2006/relationships/image" Target="/ppt/media/image11.png" Id="Rccab9328a5154b6b" /><Relationship Type="http://schemas.openxmlformats.org/officeDocument/2006/relationships/image" Target="/ppt/media/image12.png" Id="R976b3a2761494d53" /><Relationship Type="http://schemas.openxmlformats.org/officeDocument/2006/relationships/notesSlide" Target="/ppt/notesSlides/notesSlide6.xml" Id="Rbbd26f10486a4c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093b380b6b4305" /><Relationship Type="http://schemas.openxmlformats.org/officeDocument/2006/relationships/image" Target="/ppt/media/image13.png" Id="R70c706cd94004c3c" /><Relationship Type="http://schemas.openxmlformats.org/officeDocument/2006/relationships/image" Target="/ppt/media/image14.png" Id="R97b1b53ed05148d5" /><Relationship Type="http://schemas.openxmlformats.org/officeDocument/2006/relationships/image" Target="/ppt/media/image15.png" Id="Rb23946a84d1341d8" /><Relationship Type="http://schemas.openxmlformats.org/officeDocument/2006/relationships/notesSlide" Target="/ppt/notesSlides/notesSlide7.xml" Id="R4c9b53c067fb45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6e95381dc694bd9" /><Relationship Type="http://schemas.openxmlformats.org/officeDocument/2006/relationships/image" Target="/ppt/media/image16.png" Id="R7c7db4b27b9f4168" /><Relationship Type="http://schemas.openxmlformats.org/officeDocument/2006/relationships/image" Target="/ppt/media/image17.png" Id="R119c61983770481f" /><Relationship Type="http://schemas.openxmlformats.org/officeDocument/2006/relationships/image" Target="/ppt/media/image18.png" Id="R7db97b3c04a94c7b" /><Relationship Type="http://schemas.openxmlformats.org/officeDocument/2006/relationships/notesSlide" Target="/ppt/notesSlides/notesSlide8.xml" Id="Rb3347d31fdb94a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ed0c79d6a44a57" /><Relationship Type="http://schemas.openxmlformats.org/officeDocument/2006/relationships/image" Target="/ppt/media/image19.png" Id="Rb80b3acd29d7442d" /><Relationship Type="http://schemas.openxmlformats.org/officeDocument/2006/relationships/image" Target="/ppt/media/image20.png" Id="Ra05f1687bd7840fd" /><Relationship Type="http://schemas.openxmlformats.org/officeDocument/2006/relationships/image" Target="/ppt/media/image21.png" Id="Rd5d3a364cec24d7a" /><Relationship Type="http://schemas.openxmlformats.org/officeDocument/2006/relationships/notesSlide" Target="/ppt/notesSlides/notesSlide9.xml" Id="R2e1bb7ecfd1648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50492d4a314a34" /><Relationship Type="http://schemas.openxmlformats.org/officeDocument/2006/relationships/image" Target="/ppt/media/image22.png" Id="R393eb49e227945cb" /><Relationship Type="http://schemas.openxmlformats.org/officeDocument/2006/relationships/image" Target="/ppt/media/image23.png" Id="R22ac1606733145d2" /><Relationship Type="http://schemas.openxmlformats.org/officeDocument/2006/relationships/notesSlide" Target="/ppt/notesSlides/notesSlide10.xml" Id="R7e1203abfc194d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74a9ad786c43f9" /><Relationship Type="http://schemas.openxmlformats.org/officeDocument/2006/relationships/image" Target="/ppt/media/image24.png" Id="R146cceba1d4b4ae9" /><Relationship Type="http://schemas.openxmlformats.org/officeDocument/2006/relationships/image" Target="/ppt/media/image25.png" Id="R771d48f7912c441a" /><Relationship Type="http://schemas.openxmlformats.org/officeDocument/2006/relationships/notesSlide" Target="/ppt/notesSlides/notesSlide11.xml" Id="Rd284b93c4b604253"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94CCEE7-E73E-4C37-94B2-C875DA3D91E5}"/>
              </a:ext>
            </a:extLst>
          </p:cNvPr>
          <p:cNvPicPr>
            <a:picLocks xmlns:a="http://schemas.openxmlformats.org/drawingml/2006/main" noChangeAspect="1"/>
          </p:cNvPicPr>
          <p:nvPr/>
        </p:nvPicPr>
        <p:blipFill>
          <a:blip xmlns:r="http://schemas.openxmlformats.org/officeDocument/2006/relationships" xmlns:a="http://schemas.openxmlformats.org/drawingml/2006/main" r:embed="R43e7ebee1aee4210"/>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F20727B-A92E-48B7-A07F-8AC5D8818040}"/>
              </a:ext>
            </a:extLst>
          </p:cNvPr>
          <p:cNvPicPr>
            <a:picLocks xmlns:a="http://schemas.openxmlformats.org/drawingml/2006/main" noChangeAspect="1"/>
          </p:cNvPicPr>
          <p:nvPr/>
        </p:nvPicPr>
        <p:blipFill>
          <a:blip xmlns:r="http://schemas.openxmlformats.org/officeDocument/2006/relationships" xmlns:a="http://schemas.openxmlformats.org/drawingml/2006/main" r:embed="Ree0f784d48e14aa0"/>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23907386-3402-4D8B-805E-43EEB39FC516}"/>
              </a:ext>
            </a:extLst>
          </p:cNvPr>
          <p:cNvSpPr>
            <a:spLocks xmlns:a="http://schemas.openxmlformats.org/drawingml/2006/main" noGrp="1"/>
          </p:cNvSpPr>
          <p:nvPr/>
        </p:nvSpPr>
        <p:spPr>
          <a:xfrm xmlns:a="http://schemas.openxmlformats.org/drawingml/2006/main">
            <a:off x="685800" y="2124075"/>
            <a:ext cx="776287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00" b="1">
                <a:solidFill>
                  <a:srgbClr val="05244B"/>
                </a:solidFill>
                <a:latin typeface="Arial"/>
                <a:ea typeface="Arial"/>
                <a:cs typeface="Arial"/>
              </a:defRPr>
            </a:defPPr>
          </a:lstStyle>
          <a:p xmlns:a="http://schemas.openxmlformats.org/drawingml/2006/main">
            <a:pPr>
              <a:buNone/>
              <a:defRPr sz="5400" b="1">
                <a:solidFill>
                  <a:srgbClr val="05244B"/>
                </a:solidFill>
                <a:latin typeface="Arial"/>
                <a:ea typeface="Arial"/>
                <a:cs typeface="Arial"/>
              </a:defRPr>
            </a:pPr>
            <a:r>
              <a:rPr sz="5400" b="1">
                <a:solidFill>
                  <a:srgbClr val="05244B"/>
                </a:solidFill>
                <a:latin typeface="Arial"/>
                <a:ea typeface="Arial"/>
                <a:cs typeface="Arial"/>
              </a:rPr>
              <a:t>A game plan for</a:t>
            </a:r>
          </a:p>
          <a:p xmlns:a="http://schemas.openxmlformats.org/drawingml/2006/main">
            <a:pPr>
              <a:buNone/>
              <a:defRPr sz="5400" b="1">
                <a:solidFill>
                  <a:srgbClr val="05244B"/>
                </a:solidFill>
                <a:latin typeface="Arial"/>
                <a:ea typeface="Arial"/>
                <a:cs typeface="Arial"/>
              </a:defRPr>
            </a:pPr>
            <a:r>
              <a:rPr sz="5400" b="1">
                <a:solidFill>
                  <a:srgbClr val="05244B"/>
                </a:solidFill>
                <a:latin typeface="Arial"/>
                <a:ea typeface="Arial"/>
                <a:cs typeface="Arial"/>
              </a:rPr>
              <a:t>your money</a:t>
            </a:r>
          </a:p>
        </p:txBody>
      </p:sp>
      <p:sp>
        <p:nvSpPr>
          <p:cNvPr id="4" name="Personal finance for everyday life">
            <a:extLst xmlns:a="http://schemas.openxmlformats.org/drawingml/2006/main">
              <a:ext uri="{FF2B5EF4-FFF2-40B4-BE49-F238E27FC236}">
                <a16:creationId xmlns:a16="http://schemas.microsoft.com/office/drawing/2014/main" id="{9B3C1DF2-53E9-43BD-819B-506B2A8A2172}"/>
              </a:ext>
            </a:extLst>
          </p:cNvPr>
          <p:cNvSpPr>
            <a:spLocks xmlns:a="http://schemas.openxmlformats.org/drawingml/2006/main" noGrp="1"/>
          </p:cNvSpPr>
          <p:nvPr/>
        </p:nvSpPr>
        <p:spPr>
          <a:xfrm xmlns:a="http://schemas.openxmlformats.org/drawingml/2006/main">
            <a:off x="723900" y="44481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buNone/>
              <a:defRPr sz="2175" b="0">
                <a:solidFill>
                  <a:srgbClr val="607589"/>
                </a:solidFill>
                <a:latin typeface="Arial"/>
                <a:ea typeface="Arial"/>
                <a:cs typeface="Arial"/>
              </a:defRPr>
            </a:pPr>
            <a:r>
              <a:rPr sz="2175" b="0">
                <a:solidFill>
                  <a:srgbClr val="607589"/>
                </a:solidFill>
                <a:latin typeface="Arial"/>
                <a:ea typeface="Arial"/>
                <a:cs typeface="Arial"/>
              </a:rPr>
              <a:t>Spend with a plan. Know where you stand.</a:t>
            </a:r>
          </a:p>
        </p:txBody>
      </p:sp>
      <p:pic>
        <p:nvPicPr>
          <p:cNvPr id="5" name="">
            <a:extLst xmlns:a="http://schemas.openxmlformats.org/drawingml/2006/main">
              <a:ext uri="{FF2B5EF4-FFF2-40B4-BE49-F238E27FC236}">
                <a16:creationId xmlns:a16="http://schemas.microsoft.com/office/drawing/2014/main" id="{A7079E02-08EA-4730-89EF-DCDE50886E81}"/>
              </a:ext>
            </a:extLst>
          </p:cNvPr>
          <p:cNvPicPr>
            <a:picLocks xmlns:a="http://schemas.openxmlformats.org/drawingml/2006/main" noChangeAspect="1"/>
          </p:cNvPicPr>
          <p:nvPr/>
        </p:nvPicPr>
        <p:blipFill>
          <a:blip xmlns:r="http://schemas.openxmlformats.org/officeDocument/2006/relationships" xmlns:a="http://schemas.openxmlformats.org/drawingml/2006/main" r:embed="R86db6adc24f7493f"/>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B746CDE7-E06F-4221-AE9D-96750FA9A7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6895785F-997E-4B53-A541-E4478B50B335}"/>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431265098"/>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86D01F47-CAC4-49A7-9AA7-1B8748B0E8A4}"/>
              </a:ext>
            </a:extLst>
          </p:cNvPr>
          <p:cNvSpPr>
            <a:spLocks xmlns:a="http://schemas.openxmlformats.org/drawingml/2006/main" noGrp="1"/>
          </p:cNvSpPr>
          <p:nvPr/>
        </p:nvSpPr>
        <p:spPr>
          <a:xfrm xmlns:a="http://schemas.openxmlformats.org/drawingml/2006/main">
            <a:off x="685800" y="1562100"/>
            <a:ext cx="7620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75" b="1">
                <a:solidFill>
                  <a:srgbClr val="FFFFFF"/>
                </a:solidFill>
                <a:latin typeface="Arial"/>
                <a:ea typeface="Arial"/>
                <a:cs typeface="Arial"/>
              </a:defRPr>
            </a:defPPr>
          </a:lstStyle>
          <a:p xmlns:a="http://schemas.openxmlformats.org/drawingml/2006/main">
            <a:pPr>
              <a:buNone/>
              <a:defRPr sz="5475" b="1">
                <a:solidFill>
                  <a:srgbClr val="FFFFFF"/>
                </a:solidFill>
                <a:latin typeface="Arial"/>
                <a:ea typeface="Arial"/>
                <a:cs typeface="Arial"/>
              </a:defRPr>
            </a:pPr>
            <a:r>
              <a:rPr sz="5475" b="1">
                <a:solidFill>
                  <a:srgbClr val="FFFFFF"/>
                </a:solidFill>
                <a:latin typeface="Arial"/>
                <a:ea typeface="Arial"/>
                <a:cs typeface="Arial"/>
              </a:rPr>
              <a:t>Payday arrives.</a:t>
            </a:r>
          </a:p>
          <a:p xmlns:a="http://schemas.openxmlformats.org/drawingml/2006/main">
            <a:pPr>
              <a:buNone/>
              <a:defRPr sz="5475" b="1">
                <a:solidFill>
                  <a:srgbClr val="FFFFFF"/>
                </a:solidFill>
                <a:latin typeface="Arial"/>
                <a:ea typeface="Arial"/>
                <a:cs typeface="Arial"/>
              </a:defRPr>
            </a:pPr>
            <a:r>
              <a:rPr sz="5475" b="1">
                <a:solidFill>
                  <a:srgbClr val="FFFFFF"/>
                </a:solidFill>
                <a:latin typeface="Arial"/>
                <a:ea typeface="Arial"/>
                <a:cs typeface="Arial"/>
              </a:rPr>
              <a:t>Then… poof.</a:t>
            </a:r>
          </a:p>
        </p:txBody>
      </p:sp>
      <p:sp>
        <p:nvSpPr>
          <p:cNvPr id="2" name="A balance alone cannot explain&#10;your spending.">
            <a:extLst xmlns:a="http://schemas.openxmlformats.org/drawingml/2006/main">
              <a:ext uri="{FF2B5EF4-FFF2-40B4-BE49-F238E27FC236}">
                <a16:creationId xmlns:a16="http://schemas.microsoft.com/office/drawing/2014/main" id="{8414B9C1-33EA-4BA6-84F6-A231DE512157}"/>
              </a:ext>
            </a:extLst>
          </p:cNvPr>
          <p:cNvSpPr>
            <a:spLocks xmlns:a="http://schemas.openxmlformats.org/drawingml/2006/main" noGrp="1"/>
          </p:cNvSpPr>
          <p:nvPr/>
        </p:nvSpPr>
        <p:spPr>
          <a:xfrm xmlns:a="http://schemas.openxmlformats.org/drawingml/2006/main">
            <a:off x="723900" y="3857625"/>
            <a:ext cx="7429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95CFC5"/>
                </a:solidFill>
                <a:latin typeface="Arial"/>
                <a:ea typeface="Arial"/>
                <a:cs typeface="Arial"/>
              </a:defRPr>
            </a:defPPr>
          </a:lstStyle>
          <a:p xmlns:a="http://schemas.openxmlformats.org/drawingml/2006/main">
            <a:pPr>
              <a:buNone/>
              <a:defRPr sz="2175" b="0">
                <a:solidFill>
                  <a:srgbClr val="95CFC5"/>
                </a:solidFill>
                <a:latin typeface="Arial"/>
                <a:ea typeface="Arial"/>
                <a:cs typeface="Arial"/>
              </a:defRPr>
            </a:pPr>
            <a:r>
              <a:rPr sz="2175" b="0">
                <a:solidFill>
                  <a:srgbClr val="95CFC5"/>
                </a:solidFill>
                <a:latin typeface="Arial"/>
                <a:ea typeface="Arial"/>
                <a:cs typeface="Arial"/>
              </a:rPr>
              <a:t>A few small purchases later,</a:t>
            </a:r>
          </a:p>
          <a:p xmlns:a="http://schemas.openxmlformats.org/drawingml/2006/main">
            <a:pPr>
              <a:buNone/>
              <a:defRPr sz="2175" b="0">
                <a:solidFill>
                  <a:srgbClr val="95CFC5"/>
                </a:solidFill>
                <a:latin typeface="Arial"/>
                <a:ea typeface="Arial"/>
                <a:cs typeface="Arial"/>
              </a:defRPr>
            </a:pPr>
            <a:r>
              <a:rPr sz="2175" b="0">
                <a:solidFill>
                  <a:srgbClr val="95CFC5"/>
                </a:solidFill>
                <a:latin typeface="Arial"/>
                <a:ea typeface="Arial"/>
                <a:cs typeface="Arial"/>
              </a:rPr>
              <a:t>you’re investigating your own money.</a:t>
            </a:r>
          </a:p>
        </p:txBody>
      </p:sp>
      <p:sp>
        <p:nvSpPr>
          <p:cNvPr id="3" name="Small purchases add up">
            <a:extLst xmlns:a="http://schemas.openxmlformats.org/drawingml/2006/main">
              <a:ext uri="{FF2B5EF4-FFF2-40B4-BE49-F238E27FC236}">
                <a16:creationId xmlns:a16="http://schemas.microsoft.com/office/drawing/2014/main" id="{60B5782F-4EE3-4426-BEB3-CE826C0BBA89}"/>
              </a:ext>
            </a:extLst>
          </p:cNvPr>
          <p:cNvSpPr>
            <a:spLocks xmlns:a="http://schemas.openxmlformats.org/drawingml/2006/main" noGrp="1"/>
          </p:cNvSpPr>
          <p:nvPr/>
        </p:nvSpPr>
        <p:spPr>
          <a:xfrm xmlns:a="http://schemas.openxmlformats.org/drawingml/2006/main">
            <a:off x="8239125" y="20955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It all feels small</a:t>
            </a:r>
          </a:p>
        </p:txBody>
      </p:sp>
      <p:sp>
        <p:nvSpPr>
          <p:cNvPr id="4" name="Daily spending can be&#10;easy to lose track of.">
            <a:extLst xmlns:a="http://schemas.openxmlformats.org/drawingml/2006/main">
              <a:ext uri="{FF2B5EF4-FFF2-40B4-BE49-F238E27FC236}">
                <a16:creationId xmlns:a16="http://schemas.microsoft.com/office/drawing/2014/main" id="{3ACF1643-3B6B-4639-8174-5FE8E8DDDF88}"/>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One coffee. One ride.</a:t>
            </a:r>
          </a:p>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One more night out.</a:t>
            </a:r>
          </a:p>
        </p:txBody>
      </p:sp>
      <p:sp>
        <p:nvSpPr>
          <p:cNvPr id="5" name="Limits need context">
            <a:extLst xmlns:a="http://schemas.openxmlformats.org/drawingml/2006/main">
              <a:ext uri="{FF2B5EF4-FFF2-40B4-BE49-F238E27FC236}">
                <a16:creationId xmlns:a16="http://schemas.microsoft.com/office/drawing/2014/main" id="{4DA7DA38-A216-4B50-8CA0-E3498CD965D0}"/>
              </a:ext>
            </a:extLst>
          </p:cNvPr>
          <p:cNvSpPr>
            <a:spLocks xmlns:a="http://schemas.openxmlformats.org/drawingml/2006/main" noGrp="1"/>
          </p:cNvSpPr>
          <p:nvPr/>
        </p:nvSpPr>
        <p:spPr>
          <a:xfrm xmlns:a="http://schemas.openxmlformats.org/drawingml/2006/main">
            <a:off x="8239125" y="41148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Then the total hits</a:t>
            </a:r>
          </a:p>
        </p:txBody>
      </p:sp>
      <p:sp>
        <p:nvSpPr>
          <p:cNvPr id="6" name="It helps to see what is&#10;left in each category.">
            <a:extLst xmlns:a="http://schemas.openxmlformats.org/drawingml/2006/main">
              <a:ext uri="{FF2B5EF4-FFF2-40B4-BE49-F238E27FC236}">
                <a16:creationId xmlns:a16="http://schemas.microsoft.com/office/drawing/2014/main" id="{E3F90612-7AA8-4743-B12E-73994BDCDEC0}"/>
              </a:ext>
            </a:extLst>
          </p:cNvPr>
          <p:cNvSpPr>
            <a:spLocks xmlns:a="http://schemas.openxmlformats.org/drawingml/2006/main" noGrp="1"/>
          </p:cNvSpPr>
          <p:nvPr/>
        </p:nvSpPr>
        <p:spPr>
          <a:xfrm xmlns:a="http://schemas.openxmlformats.org/drawingml/2006/main">
            <a:off x="8239125" y="46863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B9CBD9"/>
                </a:solidFill>
                <a:latin typeface="Arial"/>
                <a:ea typeface="Arial"/>
                <a:cs typeface="Arial"/>
              </a:defRPr>
            </a:defPPr>
          </a:lstStyle>
          <a:p xmlns:a="http://schemas.openxmlformats.org/drawingml/2006/main">
            <a:pPr>
              <a:buNone/>
              <a:defRPr sz="1725" b="0">
                <a:solidFill>
                  <a:srgbClr val="B9CBD9"/>
                </a:solidFill>
                <a:latin typeface="Arial"/>
                <a:ea typeface="Arial"/>
                <a:cs typeface="Arial"/>
              </a:defRPr>
            </a:pPr>
            <a:r>
              <a:rPr sz="1725" b="0">
                <a:solidFill>
                  <a:srgbClr val="B9CBD9"/>
                </a:solidFill>
                <a:latin typeface="Arial"/>
                <a:ea typeface="Arial"/>
                <a:cs typeface="Arial"/>
              </a:rPr>
              <a:t>Your balance has a plot twist.</a:t>
            </a:r>
          </a:p>
          <a:p xmlns:a="http://schemas.openxmlformats.org/drawingml/2006/main">
            <a:pPr>
              <a:buNone/>
              <a:defRPr sz="1725" b="0">
                <a:solidFill>
                  <a:srgbClr val="B9CBD9"/>
                </a:solidFill>
                <a:latin typeface="Arial"/>
                <a:ea typeface="Arial"/>
                <a:cs typeface="Arial"/>
              </a:defRPr>
            </a:pPr>
            <a:r>
              <a:rPr sz="1725" b="0">
                <a:solidFill>
                  <a:srgbClr val="B9CBD9"/>
                </a:solidFill>
                <a:latin typeface="Arial"/>
                <a:ea typeface="Arial"/>
                <a:cs typeface="Arial"/>
              </a:rPr>
              <a:t>Your budget wasn’t ready.</a:t>
            </a:r>
          </a:p>
        </p:txBody>
      </p:sp>
      <p:sp>
        <p:nvSpPr>
          <p:cNvPr id="7" name="">
            <a:extLst xmlns:a="http://schemas.openxmlformats.org/drawingml/2006/main">
              <a:ext uri="{FF2B5EF4-FFF2-40B4-BE49-F238E27FC236}">
                <a16:creationId xmlns:a16="http://schemas.microsoft.com/office/drawing/2014/main" id="{934EBE84-AB7D-41B8-9216-3E7C6438174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9B4DFB70-F7B1-48A3-BB00-A9460E02302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buNone/>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310012984"/>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CBCE830-02C6-45C8-ACBC-BD81358767F0}"/>
              </a:ext>
            </a:extLst>
          </p:cNvPr>
          <p:cNvPicPr>
            <a:picLocks xmlns:a="http://schemas.openxmlformats.org/drawingml/2006/main" noChangeAspect="1"/>
          </p:cNvPicPr>
          <p:nvPr/>
        </p:nvPicPr>
        <p:blipFill>
          <a:blip xmlns:r="http://schemas.openxmlformats.org/officeDocument/2006/relationships" xmlns:a="http://schemas.openxmlformats.org/drawingml/2006/main" r:embed="R90108c6b597644fb"/>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CDE5DDE-2143-4DED-B53D-53B7BBCD1C79}"/>
              </a:ext>
            </a:extLst>
          </p:cNvPr>
          <p:cNvPicPr>
            <a:picLocks xmlns:a="http://schemas.openxmlformats.org/drawingml/2006/main" noChangeAspect="1"/>
          </p:cNvPicPr>
          <p:nvPr/>
        </p:nvPicPr>
        <p:blipFill>
          <a:blip xmlns:r="http://schemas.openxmlformats.org/officeDocument/2006/relationships" xmlns:a="http://schemas.openxmlformats.org/drawingml/2006/main" r:embed="Rfebfd6dad4684262"/>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It’s only $5” adds up fast">
            <a:extLst xmlns:a="http://schemas.openxmlformats.org/drawingml/2006/main">
              <a:ext uri="{FF2B5EF4-FFF2-40B4-BE49-F238E27FC236}">
                <a16:creationId xmlns:a16="http://schemas.microsoft.com/office/drawing/2014/main" id="{5DCC2C20-2B95-4DED-B0FC-45E2BBA51090}"/>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975" b="1">
                <a:solidFill>
                  <a:srgbClr val="05244B"/>
                </a:solidFill>
                <a:latin typeface="Arial"/>
                <a:ea typeface="Arial"/>
                <a:cs typeface="Arial"/>
              </a:defRPr>
            </a:defPPr>
          </a:lstStyle>
          <a:p xmlns:a="http://schemas.openxmlformats.org/drawingml/2006/main">
            <a:pPr>
              <a:defRPr sz="3975" b="1">
                <a:solidFill>
                  <a:srgbClr val="05244B"/>
                </a:solidFill>
                <a:latin typeface="Arial"/>
                <a:ea typeface="Arial"/>
                <a:cs typeface="Arial"/>
              </a:defRPr>
            </a:pPr>
            <a:r>
              <a:rPr sz="3975" b="1">
                <a:solidFill>
                  <a:srgbClr val="05244B"/>
                </a:solidFill>
                <a:latin typeface="Arial"/>
                <a:ea typeface="Arial"/>
                <a:cs typeface="Arial"/>
              </a:rPr>
              <a:t>“It’s only $5” adds up fast</a:t>
            </a:r>
          </a:p>
        </p:txBody>
      </p:sp>
      <p:sp>
        <p:nvSpPr>
          <p:cNvPr id="4" name="One small extra purchase, repeated every day.">
            <a:extLst xmlns:a="http://schemas.openxmlformats.org/drawingml/2006/main">
              <a:ext uri="{FF2B5EF4-FFF2-40B4-BE49-F238E27FC236}">
                <a16:creationId xmlns:a16="http://schemas.microsoft.com/office/drawing/2014/main" id="{535E8A39-403E-433F-B816-4DA714B23E50}"/>
              </a:ext>
            </a:extLst>
          </p:cNvPr>
          <p:cNvSpPr>
            <a:spLocks xmlns:a="http://schemas.openxmlformats.org/drawingml/2006/main" noGrp="1"/>
          </p:cNvSpPr>
          <p:nvPr/>
        </p:nvSpPr>
        <p:spPr>
          <a:xfrm xmlns:a="http://schemas.openxmlformats.org/drawingml/2006/main">
            <a:off x="723900" y="2124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607589"/>
                </a:solidFill>
                <a:latin typeface="Arial"/>
                <a:ea typeface="Arial"/>
                <a:cs typeface="Arial"/>
              </a:defRPr>
            </a:defPPr>
          </a:lstStyle>
          <a:p xmlns:a="http://schemas.openxmlformats.org/drawingml/2006/main">
            <a:pPr>
              <a:defRPr sz="2100" b="0">
                <a:solidFill>
                  <a:srgbClr val="607589"/>
                </a:solidFill>
                <a:latin typeface="Arial"/>
                <a:ea typeface="Arial"/>
                <a:cs typeface="Arial"/>
              </a:defRPr>
            </a:pPr>
            <a:r>
              <a:rPr sz="2100" b="0">
                <a:solidFill>
                  <a:srgbClr val="607589"/>
                </a:solidFill>
                <a:latin typeface="Arial"/>
                <a:ea typeface="Arial"/>
                <a:cs typeface="Arial"/>
              </a:rPr>
              <a:t>One small extra purchase, repeated every day.</a:t>
            </a:r>
          </a:p>
        </p:txBody>
      </p:sp>
      <p:sp>
        <p:nvSpPr>
          <p:cNvPr id="5" name="$5">
            <a:extLst xmlns:a="http://schemas.openxmlformats.org/drawingml/2006/main">
              <a:ext uri="{FF2B5EF4-FFF2-40B4-BE49-F238E27FC236}">
                <a16:creationId xmlns:a16="http://schemas.microsoft.com/office/drawing/2014/main" id="{39320AB7-B3C9-493B-A295-ED85AA61F0B7}"/>
              </a:ext>
            </a:extLst>
          </p:cNvPr>
          <p:cNvSpPr>
            <a:spLocks xmlns:a="http://schemas.openxmlformats.org/drawingml/2006/main" noGrp="1"/>
          </p:cNvSpPr>
          <p:nvPr/>
        </p:nvSpPr>
        <p:spPr>
          <a:xfrm xmlns:a="http://schemas.openxmlformats.org/drawingml/2006/main">
            <a:off x="685800" y="3248025"/>
            <a:ext cx="304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600" b="1">
                <a:solidFill>
                  <a:srgbClr val="05244B"/>
                </a:solidFill>
                <a:latin typeface="Arial"/>
                <a:ea typeface="Arial"/>
                <a:cs typeface="Arial"/>
              </a:defRPr>
            </a:defPPr>
          </a:lstStyle>
          <a:p xmlns:a="http://schemas.openxmlformats.org/drawingml/2006/main">
            <a:pPr>
              <a:defRPr sz="6600" b="1">
                <a:solidFill>
                  <a:srgbClr val="05244B"/>
                </a:solidFill>
                <a:latin typeface="Arial"/>
                <a:ea typeface="Arial"/>
                <a:cs typeface="Arial"/>
              </a:defRPr>
            </a:pPr>
            <a:r>
              <a:rPr sz="6600" b="1">
                <a:solidFill>
                  <a:srgbClr val="05244B"/>
                </a:solidFill>
                <a:latin typeface="Arial"/>
                <a:ea typeface="Arial"/>
                <a:cs typeface="Arial"/>
              </a:rPr>
              <a:t>$5</a:t>
            </a:r>
          </a:p>
        </p:txBody>
      </p:sp>
      <p:sp>
        <p:nvSpPr>
          <p:cNvPr id="6" name="each day">
            <a:extLst xmlns:a="http://schemas.openxmlformats.org/drawingml/2006/main">
              <a:ext uri="{FF2B5EF4-FFF2-40B4-BE49-F238E27FC236}">
                <a16:creationId xmlns:a16="http://schemas.microsoft.com/office/drawing/2014/main" id="{A4CF2AB1-83C1-4A8C-A8F2-7571AE0268E1}"/>
              </a:ext>
            </a:extLst>
          </p:cNvPr>
          <p:cNvSpPr>
            <a:spLocks xmlns:a="http://schemas.openxmlformats.org/drawingml/2006/main" noGrp="1"/>
          </p:cNvSpPr>
          <p:nvPr/>
        </p:nvSpPr>
        <p:spPr>
          <a:xfrm xmlns:a="http://schemas.openxmlformats.org/drawingml/2006/main">
            <a:off x="723900" y="43624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each day</a:t>
            </a:r>
          </a:p>
        </p:txBody>
      </p:sp>
      <p:sp>
        <p:nvSpPr>
          <p:cNvPr id="7" name="×">
            <a:extLst xmlns:a="http://schemas.openxmlformats.org/drawingml/2006/main">
              <a:ext uri="{FF2B5EF4-FFF2-40B4-BE49-F238E27FC236}">
                <a16:creationId xmlns:a16="http://schemas.microsoft.com/office/drawing/2014/main" id="{23788F7C-BA76-47D2-A57D-A942A01FD439}"/>
              </a:ext>
            </a:extLst>
          </p:cNvPr>
          <p:cNvSpPr>
            <a:spLocks xmlns:a="http://schemas.openxmlformats.org/drawingml/2006/main" noGrp="1"/>
          </p:cNvSpPr>
          <p:nvPr/>
        </p:nvSpPr>
        <p:spPr>
          <a:xfrm xmlns:a="http://schemas.openxmlformats.org/drawingml/2006/main">
            <a:off x="3648075" y="34575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0">
                <a:solidFill>
                  <a:srgbClr val="607589"/>
                </a:solidFill>
                <a:latin typeface="Arial"/>
                <a:ea typeface="Arial"/>
                <a:cs typeface="Arial"/>
              </a:defRPr>
            </a:defPPr>
          </a:lstStyle>
          <a:p xmlns:a="http://schemas.openxmlformats.org/drawingml/2006/main">
            <a:pPr>
              <a:defRPr sz="4650" b="0">
                <a:solidFill>
                  <a:srgbClr val="607589"/>
                </a:solidFill>
                <a:latin typeface="Arial"/>
                <a:ea typeface="Arial"/>
                <a:cs typeface="Arial"/>
              </a:defRPr>
            </a:pPr>
            <a:r>
              <a:rPr sz="4650" b="0">
                <a:solidFill>
                  <a:srgbClr val="607589"/>
                </a:solidFill>
                <a:latin typeface="Arial"/>
                <a:ea typeface="Arial"/>
                <a:cs typeface="Arial"/>
              </a:rPr>
              <a:t>×</a:t>
            </a:r>
          </a:p>
        </p:txBody>
      </p:sp>
      <p:sp>
        <p:nvSpPr>
          <p:cNvPr id="8" name="30">
            <a:extLst xmlns:a="http://schemas.openxmlformats.org/drawingml/2006/main">
              <a:ext uri="{FF2B5EF4-FFF2-40B4-BE49-F238E27FC236}">
                <a16:creationId xmlns:a16="http://schemas.microsoft.com/office/drawing/2014/main" id="{33E139C1-7B2D-40B1-B1AB-650D1B647E73}"/>
              </a:ext>
            </a:extLst>
          </p:cNvPr>
          <p:cNvSpPr>
            <a:spLocks xmlns:a="http://schemas.openxmlformats.org/drawingml/2006/main" noGrp="1"/>
          </p:cNvSpPr>
          <p:nvPr/>
        </p:nvSpPr>
        <p:spPr>
          <a:xfrm xmlns:a="http://schemas.openxmlformats.org/drawingml/2006/main">
            <a:off x="5010150" y="3248025"/>
            <a:ext cx="2476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600" b="1">
                <a:solidFill>
                  <a:srgbClr val="05244B"/>
                </a:solidFill>
                <a:latin typeface="Arial"/>
                <a:ea typeface="Arial"/>
                <a:cs typeface="Arial"/>
              </a:defRPr>
            </a:defPPr>
          </a:lstStyle>
          <a:p xmlns:a="http://schemas.openxmlformats.org/drawingml/2006/main">
            <a:pPr>
              <a:defRPr sz="6600" b="1">
                <a:solidFill>
                  <a:srgbClr val="05244B"/>
                </a:solidFill>
                <a:latin typeface="Arial"/>
                <a:ea typeface="Arial"/>
                <a:cs typeface="Arial"/>
              </a:defRPr>
            </a:pPr>
            <a:r>
              <a:rPr sz="6600" b="1">
                <a:solidFill>
                  <a:srgbClr val="05244B"/>
                </a:solidFill>
                <a:latin typeface="Arial"/>
                <a:ea typeface="Arial"/>
                <a:cs typeface="Arial"/>
              </a:rPr>
              <a:t>30</a:t>
            </a:r>
          </a:p>
        </p:txBody>
      </p:sp>
      <p:sp>
        <p:nvSpPr>
          <p:cNvPr id="9" name="days">
            <a:extLst xmlns:a="http://schemas.openxmlformats.org/drawingml/2006/main">
              <a:ext uri="{FF2B5EF4-FFF2-40B4-BE49-F238E27FC236}">
                <a16:creationId xmlns:a16="http://schemas.microsoft.com/office/drawing/2014/main" id="{98BE7008-F73E-4C41-811A-78321E31F089}"/>
              </a:ext>
            </a:extLst>
          </p:cNvPr>
          <p:cNvSpPr>
            <a:spLocks xmlns:a="http://schemas.openxmlformats.org/drawingml/2006/main" noGrp="1"/>
          </p:cNvSpPr>
          <p:nvPr/>
        </p:nvSpPr>
        <p:spPr>
          <a:xfrm xmlns:a="http://schemas.openxmlformats.org/drawingml/2006/main">
            <a:off x="5048250" y="436245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days</a:t>
            </a:r>
          </a:p>
        </p:txBody>
      </p:sp>
      <p:sp>
        <p:nvSpPr>
          <p:cNvPr id="10" name="=">
            <a:extLst xmlns:a="http://schemas.openxmlformats.org/drawingml/2006/main">
              <a:ext uri="{FF2B5EF4-FFF2-40B4-BE49-F238E27FC236}">
                <a16:creationId xmlns:a16="http://schemas.microsoft.com/office/drawing/2014/main" id="{C1402451-8E3A-4A86-B8D2-98013B283D5F}"/>
              </a:ext>
            </a:extLst>
          </p:cNvPr>
          <p:cNvSpPr>
            <a:spLocks xmlns:a="http://schemas.openxmlformats.org/drawingml/2006/main" noGrp="1"/>
          </p:cNvSpPr>
          <p:nvPr/>
        </p:nvSpPr>
        <p:spPr>
          <a:xfrm xmlns:a="http://schemas.openxmlformats.org/drawingml/2006/main">
            <a:off x="7486650" y="34575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0">
                <a:solidFill>
                  <a:srgbClr val="607589"/>
                </a:solidFill>
                <a:latin typeface="Arial"/>
                <a:ea typeface="Arial"/>
                <a:cs typeface="Arial"/>
              </a:defRPr>
            </a:defPPr>
          </a:lstStyle>
          <a:p xmlns:a="http://schemas.openxmlformats.org/drawingml/2006/main">
            <a:pPr>
              <a:defRPr sz="4650" b="0">
                <a:solidFill>
                  <a:srgbClr val="607589"/>
                </a:solidFill>
                <a:latin typeface="Arial"/>
                <a:ea typeface="Arial"/>
                <a:cs typeface="Arial"/>
              </a:defRPr>
            </a:pPr>
            <a:r>
              <a:rPr sz="4650" b="0">
                <a:solidFill>
                  <a:srgbClr val="607589"/>
                </a:solidFill>
                <a:latin typeface="Arial"/>
                <a:ea typeface="Arial"/>
                <a:cs typeface="Arial"/>
              </a:rPr>
              <a:t>=</a:t>
            </a:r>
          </a:p>
        </p:txBody>
      </p:sp>
      <p:sp>
        <p:nvSpPr>
          <p:cNvPr id="11" name="$150">
            <a:extLst xmlns:a="http://schemas.openxmlformats.org/drawingml/2006/main">
              <a:ext uri="{FF2B5EF4-FFF2-40B4-BE49-F238E27FC236}">
                <a16:creationId xmlns:a16="http://schemas.microsoft.com/office/drawing/2014/main" id="{EB42F20A-AB9E-4D7F-887A-D3C9EDB90DF6}"/>
              </a:ext>
            </a:extLst>
          </p:cNvPr>
          <p:cNvSpPr>
            <a:spLocks xmlns:a="http://schemas.openxmlformats.org/drawingml/2006/main" noGrp="1"/>
          </p:cNvSpPr>
          <p:nvPr/>
        </p:nvSpPr>
        <p:spPr>
          <a:xfrm xmlns:a="http://schemas.openxmlformats.org/drawingml/2006/main">
            <a:off x="8858250" y="3248025"/>
            <a:ext cx="26860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600" b="1">
                <a:solidFill>
                  <a:srgbClr val="BA6B55"/>
                </a:solidFill>
                <a:latin typeface="Arial"/>
                <a:ea typeface="Arial"/>
                <a:cs typeface="Arial"/>
              </a:defRPr>
            </a:defPPr>
          </a:lstStyle>
          <a:p xmlns:a="http://schemas.openxmlformats.org/drawingml/2006/main">
            <a:pPr>
              <a:defRPr sz="6600" b="1">
                <a:solidFill>
                  <a:srgbClr val="BA6B55"/>
                </a:solidFill>
                <a:latin typeface="Arial"/>
                <a:ea typeface="Arial"/>
                <a:cs typeface="Arial"/>
              </a:defRPr>
            </a:pPr>
            <a:r>
              <a:rPr sz="6600" b="1">
                <a:solidFill>
                  <a:srgbClr val="BA6B55"/>
                </a:solidFill>
                <a:latin typeface="Arial"/>
                <a:ea typeface="Arial"/>
                <a:cs typeface="Arial"/>
              </a:rPr>
              <a:t>$150</a:t>
            </a:r>
          </a:p>
        </p:txBody>
      </p:sp>
      <p:sp>
        <p:nvSpPr>
          <p:cNvPr id="12" name="in one month">
            <a:extLst xmlns:a="http://schemas.openxmlformats.org/drawingml/2006/main">
              <a:ext uri="{FF2B5EF4-FFF2-40B4-BE49-F238E27FC236}">
                <a16:creationId xmlns:a16="http://schemas.microsoft.com/office/drawing/2014/main" id="{74A23DB1-3EEC-4427-BC32-5337BF72C9FE}"/>
              </a:ext>
            </a:extLst>
          </p:cNvPr>
          <p:cNvSpPr>
            <a:spLocks xmlns:a="http://schemas.openxmlformats.org/drawingml/2006/main" noGrp="1"/>
          </p:cNvSpPr>
          <p:nvPr/>
        </p:nvSpPr>
        <p:spPr>
          <a:xfrm xmlns:a="http://schemas.openxmlformats.org/drawingml/2006/main">
            <a:off x="8896350" y="4362450"/>
            <a:ext cx="2686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in one month</a:t>
            </a:r>
          </a:p>
        </p:txBody>
      </p:sp>
      <p:sp>
        <p:nvSpPr>
          <p:cNvPr id="13" name="Small enough to ignore. Big enough to notice later.">
            <a:extLst xmlns:a="http://schemas.openxmlformats.org/drawingml/2006/main">
              <a:ext uri="{FF2B5EF4-FFF2-40B4-BE49-F238E27FC236}">
                <a16:creationId xmlns:a16="http://schemas.microsoft.com/office/drawing/2014/main" id="{8153CD91-4296-443E-9A0E-132C9E27AC62}"/>
              </a:ext>
            </a:extLst>
          </p:cNvPr>
          <p:cNvSpPr>
            <a:spLocks xmlns:a="http://schemas.openxmlformats.org/drawingml/2006/main" noGrp="1"/>
          </p:cNvSpPr>
          <p:nvPr/>
        </p:nvSpPr>
        <p:spPr>
          <a:xfrm xmlns:a="http://schemas.openxmlformats.org/drawingml/2006/main">
            <a:off x="723900" y="54387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BA6B55"/>
                </a:solidFill>
                <a:latin typeface="Arial"/>
                <a:ea typeface="Arial"/>
                <a:cs typeface="Arial"/>
              </a:defRPr>
            </a:defPPr>
          </a:lstStyle>
          <a:p xmlns:a="http://schemas.openxmlformats.org/drawingml/2006/main">
            <a:pPr>
              <a:defRPr sz="2400" b="1">
                <a:solidFill>
                  <a:srgbClr val="BA6B55"/>
                </a:solidFill>
                <a:latin typeface="Arial"/>
                <a:ea typeface="Arial"/>
                <a:cs typeface="Arial"/>
              </a:defRPr>
            </a:pPr>
            <a:r>
              <a:rPr sz="2400" b="1">
                <a:solidFill>
                  <a:srgbClr val="BA6B55"/>
                </a:solidFill>
                <a:latin typeface="Arial"/>
                <a:ea typeface="Arial"/>
                <a:cs typeface="Arial"/>
              </a:rPr>
              <a:t>Small enough to ignore. Big enough to notice later.</a:t>
            </a:r>
          </a:p>
        </p:txBody>
      </p:sp>
      <p:sp>
        <p:nvSpPr>
          <p:cNvPr id="14" name="Illustrative example   /   $5 per day for 30 days in USD">
            <a:extLst xmlns:a="http://schemas.openxmlformats.org/drawingml/2006/main">
              <a:ext uri="{FF2B5EF4-FFF2-40B4-BE49-F238E27FC236}">
                <a16:creationId xmlns:a16="http://schemas.microsoft.com/office/drawing/2014/main" id="{B40B5A02-EEA3-42E6-9838-7EE0C06D6376}"/>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Illustrative example   /   $5 per day for 30 days in USD</a:t>
            </a:r>
          </a:p>
        </p:txBody>
      </p:sp>
      <p:sp>
        <p:nvSpPr>
          <p:cNvPr id="15" name="03">
            <a:extLst xmlns:a="http://schemas.openxmlformats.org/drawingml/2006/main">
              <a:ext uri="{FF2B5EF4-FFF2-40B4-BE49-F238E27FC236}">
                <a16:creationId xmlns:a16="http://schemas.microsoft.com/office/drawing/2014/main" id="{93C719FD-8669-41B1-A005-23225736B9B0}"/>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2080100868"/>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D10A26C-606B-4A43-B136-C56195E75E45}"/>
              </a:ext>
            </a:extLst>
          </p:cNvPr>
          <p:cNvPicPr>
            <a:picLocks xmlns:a="http://schemas.openxmlformats.org/drawingml/2006/main" noChangeAspect="1"/>
          </p:cNvPicPr>
          <p:nvPr/>
        </p:nvPicPr>
        <p:blipFill>
          <a:blip xmlns:r="http://schemas.openxmlformats.org/officeDocument/2006/relationships" xmlns:a="http://schemas.openxmlformats.org/drawingml/2006/main" r:embed="R930cda9d5a044331"/>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C58DC33-9F0E-4F36-B8A0-5B837452DEE9}"/>
              </a:ext>
            </a:extLst>
          </p:cNvPr>
          <p:cNvPicPr>
            <a:picLocks xmlns:a="http://schemas.openxmlformats.org/drawingml/2006/main" noChangeAspect="1"/>
          </p:cNvPicPr>
          <p:nvPr/>
        </p:nvPicPr>
        <p:blipFill>
          <a:blip xmlns:r="http://schemas.openxmlformats.org/officeDocument/2006/relationships" xmlns:a="http://schemas.openxmlformats.org/drawingml/2006/main" r:embed="R1dd74d688f38480c"/>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small overspend can be easy to miss">
            <a:extLst xmlns:a="http://schemas.openxmlformats.org/drawingml/2006/main">
              <a:ext uri="{FF2B5EF4-FFF2-40B4-BE49-F238E27FC236}">
                <a16:creationId xmlns:a16="http://schemas.microsoft.com/office/drawing/2014/main" id="{4677E387-E9A7-4113-9DF7-9D1A961BA2AE}"/>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05244B"/>
                </a:solidFill>
                <a:latin typeface="Arial"/>
                <a:ea typeface="Arial"/>
                <a:cs typeface="Arial"/>
              </a:defRPr>
            </a:defPPr>
          </a:lstStyle>
          <a:p xmlns:a="http://schemas.openxmlformats.org/drawingml/2006/main">
            <a:pPr>
              <a:buNone/>
              <a:defRPr sz="3375" b="1">
                <a:solidFill>
                  <a:srgbClr val="05244B"/>
                </a:solidFill>
                <a:latin typeface="Arial"/>
                <a:ea typeface="Arial"/>
                <a:cs typeface="Arial"/>
              </a:defRPr>
            </a:pPr>
            <a:r>
              <a:rPr sz="3375" b="1">
                <a:solidFill>
                  <a:srgbClr val="05244B"/>
                </a:solidFill>
                <a:latin typeface="Arial"/>
                <a:ea typeface="Arial"/>
                <a:cs typeface="Arial"/>
              </a:rPr>
              <a:t>Two good nights. One busted budget.</a:t>
            </a:r>
          </a:p>
        </p:txBody>
      </p:sp>
      <p:sp>
        <p:nvSpPr>
          <p:cNvPr id="4" name="An everyday example: entertainment spending">
            <a:extLst xmlns:a="http://schemas.openxmlformats.org/drawingml/2006/main">
              <a:ext uri="{FF2B5EF4-FFF2-40B4-BE49-F238E27FC236}">
                <a16:creationId xmlns:a16="http://schemas.microsoft.com/office/drawing/2014/main" id="{557024FA-F3D0-42F2-AD2E-FE1E8A70053C}"/>
              </a:ext>
            </a:extLst>
          </p:cNvPr>
          <p:cNvSpPr>
            <a:spLocks xmlns:a="http://schemas.openxmlformats.org/drawingml/2006/main" noGrp="1"/>
          </p:cNvSpPr>
          <p:nvPr/>
        </p:nvSpPr>
        <p:spPr>
          <a:xfrm xmlns:a="http://schemas.openxmlformats.org/drawingml/2006/main">
            <a:off x="723900" y="206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The fun was real. So was the overspend.</a:t>
            </a:r>
          </a:p>
        </p:txBody>
      </p:sp>
      <p:sp>
        <p:nvSpPr>
          <p:cNvPr id="5" name="THE MONTHLY PLAN">
            <a:extLst xmlns:a="http://schemas.openxmlformats.org/drawingml/2006/main">
              <a:ext uri="{FF2B5EF4-FFF2-40B4-BE49-F238E27FC236}">
                <a16:creationId xmlns:a16="http://schemas.microsoft.com/office/drawing/2014/main" id="{824D97FB-B2F3-46A3-A47D-C7447C220282}"/>
              </a:ext>
            </a:extLst>
          </p:cNvPr>
          <p:cNvSpPr>
            <a:spLocks xmlns:a="http://schemas.openxmlformats.org/drawingml/2006/main" noGrp="1"/>
          </p:cNvSpPr>
          <p:nvPr/>
        </p:nvSpPr>
        <p:spPr>
          <a:xfrm xmlns:a="http://schemas.openxmlformats.org/drawingml/2006/main">
            <a:off x="72390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buNone/>
              <a:defRPr sz="1500" b="1">
                <a:solidFill>
                  <a:srgbClr val="607589"/>
                </a:solidFill>
                <a:latin typeface="Arial"/>
                <a:ea typeface="Arial"/>
                <a:cs typeface="Arial"/>
              </a:defRPr>
            </a:pPr>
            <a:r>
              <a:rPr sz="1500" b="1">
                <a:solidFill>
                  <a:srgbClr val="607589"/>
                </a:solidFill>
                <a:latin typeface="Arial"/>
                <a:ea typeface="Arial"/>
                <a:cs typeface="Arial"/>
              </a:rPr>
              <a:t>THE MONTHLY PLAN</a:t>
            </a:r>
          </a:p>
        </p:txBody>
      </p:sp>
      <p:sp>
        <p:nvSpPr>
          <p:cNvPr id="6" name="$200">
            <a:extLst xmlns:a="http://schemas.openxmlformats.org/drawingml/2006/main">
              <a:ext uri="{FF2B5EF4-FFF2-40B4-BE49-F238E27FC236}">
                <a16:creationId xmlns:a16="http://schemas.microsoft.com/office/drawing/2014/main" id="{DA93607D-CE51-4B84-874F-062D91860D16}"/>
              </a:ext>
            </a:extLst>
          </p:cNvPr>
          <p:cNvSpPr>
            <a:spLocks xmlns:a="http://schemas.openxmlformats.org/drawingml/2006/main" noGrp="1"/>
          </p:cNvSpPr>
          <p:nvPr/>
        </p:nvSpPr>
        <p:spPr>
          <a:xfrm xmlns:a="http://schemas.openxmlformats.org/drawingml/2006/main">
            <a:off x="685800" y="35052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05244B"/>
                </a:solidFill>
                <a:latin typeface="Arial"/>
                <a:ea typeface="Arial"/>
                <a:cs typeface="Arial"/>
              </a:defRPr>
            </a:defPPr>
          </a:lstStyle>
          <a:p xmlns:a="http://schemas.openxmlformats.org/drawingml/2006/main">
            <a:pPr>
              <a:buNone/>
              <a:defRPr sz="6000" b="1">
                <a:solidFill>
                  <a:srgbClr val="05244B"/>
                </a:solidFill>
                <a:latin typeface="Arial"/>
                <a:ea typeface="Arial"/>
                <a:cs typeface="Arial"/>
              </a:defRPr>
            </a:pPr>
            <a:r>
              <a:rPr sz="6000" b="1">
                <a:solidFill>
                  <a:srgbClr val="05244B"/>
                </a:solidFill>
                <a:latin typeface="Arial"/>
                <a:ea typeface="Arial"/>
                <a:cs typeface="Arial"/>
              </a:rPr>
              <a:t>$200</a:t>
            </a:r>
          </a:p>
        </p:txBody>
      </p:sp>
      <p:sp>
        <p:nvSpPr>
          <p:cNvPr id="7" name="WHAT WAS SPENT">
            <a:extLst xmlns:a="http://schemas.openxmlformats.org/drawingml/2006/main">
              <a:ext uri="{FF2B5EF4-FFF2-40B4-BE49-F238E27FC236}">
                <a16:creationId xmlns:a16="http://schemas.microsoft.com/office/drawing/2014/main" id="{287051C6-9CCF-4DB2-B93D-89BD0F540FB9}"/>
              </a:ext>
            </a:extLst>
          </p:cNvPr>
          <p:cNvSpPr>
            <a:spLocks xmlns:a="http://schemas.openxmlformats.org/drawingml/2006/main" noGrp="1"/>
          </p:cNvSpPr>
          <p:nvPr/>
        </p:nvSpPr>
        <p:spPr>
          <a:xfrm xmlns:a="http://schemas.openxmlformats.org/drawingml/2006/main">
            <a:off x="668655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buNone/>
              <a:defRPr sz="1500" b="1">
                <a:solidFill>
                  <a:srgbClr val="607589"/>
                </a:solidFill>
                <a:latin typeface="Arial"/>
                <a:ea typeface="Arial"/>
                <a:cs typeface="Arial"/>
              </a:defRPr>
            </a:pPr>
            <a:r>
              <a:rPr sz="1500" b="1">
                <a:solidFill>
                  <a:srgbClr val="607589"/>
                </a:solidFill>
                <a:latin typeface="Arial"/>
                <a:ea typeface="Arial"/>
                <a:cs typeface="Arial"/>
              </a:rPr>
              <a:t>WHAT WAS SPENT</a:t>
            </a:r>
          </a:p>
        </p:txBody>
      </p:sp>
      <p:sp>
        <p:nvSpPr>
          <p:cNvPr id="8" name="$225">
            <a:extLst xmlns:a="http://schemas.openxmlformats.org/drawingml/2006/main">
              <a:ext uri="{FF2B5EF4-FFF2-40B4-BE49-F238E27FC236}">
                <a16:creationId xmlns:a16="http://schemas.microsoft.com/office/drawing/2014/main" id="{296C6E34-E675-4B10-A678-B97EC39AC6EB}"/>
              </a:ext>
            </a:extLst>
          </p:cNvPr>
          <p:cNvSpPr>
            <a:spLocks xmlns:a="http://schemas.openxmlformats.org/drawingml/2006/main" noGrp="1"/>
          </p:cNvSpPr>
          <p:nvPr/>
        </p:nvSpPr>
        <p:spPr>
          <a:xfrm xmlns:a="http://schemas.openxmlformats.org/drawingml/2006/main">
            <a:off x="6648450" y="35052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BA6B55"/>
                </a:solidFill>
                <a:latin typeface="Arial"/>
                <a:ea typeface="Arial"/>
                <a:cs typeface="Arial"/>
              </a:defRPr>
            </a:defPPr>
          </a:lstStyle>
          <a:p xmlns:a="http://schemas.openxmlformats.org/drawingml/2006/main">
            <a:pPr>
              <a:buNone/>
              <a:defRPr sz="6000" b="1">
                <a:solidFill>
                  <a:srgbClr val="BA6B55"/>
                </a:solidFill>
                <a:latin typeface="Arial"/>
                <a:ea typeface="Arial"/>
                <a:cs typeface="Arial"/>
              </a:defRPr>
            </a:pPr>
            <a:r>
              <a:rPr sz="6000" b="1">
                <a:solidFill>
                  <a:srgbClr val="BA6B55"/>
                </a:solidFill>
                <a:latin typeface="Arial"/>
                <a:ea typeface="Arial"/>
                <a:cs typeface="Arial"/>
              </a:rPr>
              <a:t>$225</a:t>
            </a:r>
          </a:p>
        </p:txBody>
      </p:sp>
      <p:sp>
        <p:nvSpPr>
          <p:cNvPr id="9" name="The missing signal: $25 over budget">
            <a:extLst xmlns:a="http://schemas.openxmlformats.org/drawingml/2006/main">
              <a:ext uri="{FF2B5EF4-FFF2-40B4-BE49-F238E27FC236}">
                <a16:creationId xmlns:a16="http://schemas.microsoft.com/office/drawing/2014/main" id="{6561CEED-8617-43B5-A8BD-8D0998B4955A}"/>
              </a:ext>
            </a:extLst>
          </p:cNvPr>
          <p:cNvSpPr>
            <a:spLocks xmlns:a="http://schemas.openxmlformats.org/drawingml/2006/main" noGrp="1"/>
          </p:cNvSpPr>
          <p:nvPr/>
        </p:nvSpPr>
        <p:spPr>
          <a:xfrm xmlns:a="http://schemas.openxmlformats.org/drawingml/2006/main">
            <a:off x="723900" y="5019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1">
                <a:solidFill>
                  <a:srgbClr val="BA6B55"/>
                </a:solidFill>
                <a:latin typeface="Arial"/>
                <a:ea typeface="Arial"/>
                <a:cs typeface="Arial"/>
              </a:defRPr>
            </a:defPPr>
          </a:lstStyle>
          <a:p xmlns:a="http://schemas.openxmlformats.org/drawingml/2006/main">
            <a:pPr>
              <a:buNone/>
              <a:defRPr sz="2775" b="1">
                <a:solidFill>
                  <a:srgbClr val="BA6B55"/>
                </a:solidFill>
                <a:latin typeface="Arial"/>
                <a:ea typeface="Arial"/>
                <a:cs typeface="Arial"/>
              </a:defRPr>
            </a:pPr>
            <a:r>
              <a:rPr sz="2775" b="1">
                <a:solidFill>
                  <a:srgbClr val="BA6B55"/>
                </a:solidFill>
                <a:latin typeface="Arial"/>
                <a:ea typeface="Arial"/>
                <a:cs typeface="Arial"/>
              </a:rPr>
              <a:t>The plan was $200. The plot twist was $25 over.</a:t>
            </a:r>
          </a:p>
        </p:txBody>
      </p:sp>
      <p:sp>
        <p:nvSpPr>
          <p:cNvPr id="10" name="Without a category total, the gap can go unnoticed.">
            <a:extLst xmlns:a="http://schemas.openxmlformats.org/drawingml/2006/main">
              <a:ext uri="{FF2B5EF4-FFF2-40B4-BE49-F238E27FC236}">
                <a16:creationId xmlns:a16="http://schemas.microsoft.com/office/drawing/2014/main" id="{DCEB8246-9DD6-42E7-A257-39B4B50DDC94}"/>
              </a:ext>
            </a:extLst>
          </p:cNvPr>
          <p:cNvSpPr>
            <a:spLocks xmlns:a="http://schemas.openxmlformats.org/drawingml/2006/main" noGrp="1"/>
          </p:cNvSpPr>
          <p:nvPr/>
        </p:nvSpPr>
        <p:spPr>
          <a:xfrm xmlns:a="http://schemas.openxmlformats.org/drawingml/2006/main">
            <a:off x="723900" y="5619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The purchases made sense. The total needed attention.</a:t>
            </a:r>
          </a:p>
        </p:txBody>
      </p:sp>
      <p:sp>
        <p:nvSpPr>
          <p:cNvPr id="11" name="Illustrative scenario   /   Fictional sample data in USD">
            <a:extLst xmlns:a="http://schemas.openxmlformats.org/drawingml/2006/main">
              <a:ext uri="{FF2B5EF4-FFF2-40B4-BE49-F238E27FC236}">
                <a16:creationId xmlns:a16="http://schemas.microsoft.com/office/drawing/2014/main" id="{23AC97E7-00AB-4FA2-9FB9-F9A778696763}"/>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Illustrative scenario   /   Fictional sample data in USD</a:t>
            </a:r>
          </a:p>
        </p:txBody>
      </p:sp>
      <p:sp>
        <p:nvSpPr>
          <p:cNvPr id="12" name="03">
            <a:extLst xmlns:a="http://schemas.openxmlformats.org/drawingml/2006/main">
              <a:ext uri="{FF2B5EF4-FFF2-40B4-BE49-F238E27FC236}">
                <a16:creationId xmlns:a16="http://schemas.microsoft.com/office/drawing/2014/main" id="{3EED1C12-E8F7-4A59-84CC-438D507F42DC}"/>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1838788439"/>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2953017-9C8C-4721-AC88-C0AFBA4740AB}"/>
              </a:ext>
            </a:extLst>
          </p:cNvPr>
          <p:cNvPicPr>
            <a:picLocks xmlns:a="http://schemas.openxmlformats.org/drawingml/2006/main" noChangeAspect="1"/>
          </p:cNvPicPr>
          <p:nvPr/>
        </p:nvPicPr>
        <p:blipFill>
          <a:blip xmlns:r="http://schemas.openxmlformats.org/officeDocument/2006/relationships" xmlns:a="http://schemas.openxmlformats.org/drawingml/2006/main" r:embed="Rad5cb6618c3d4a62"/>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FD1B5B4-D523-456B-B64A-E705F93B9C8A}"/>
              </a:ext>
            </a:extLst>
          </p:cNvPr>
          <p:cNvPicPr>
            <a:picLocks xmlns:a="http://schemas.openxmlformats.org/drawingml/2006/main" noChangeAspect="1"/>
          </p:cNvPicPr>
          <p:nvPr/>
        </p:nvPicPr>
        <p:blipFill>
          <a:blip xmlns:r="http://schemas.openxmlformats.org/officeDocument/2006/relationships" xmlns:a="http://schemas.openxmlformats.org/drawingml/2006/main" r:embed="R804b338fdf5b41d4"/>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How Finora solves the problem">
            <a:extLst xmlns:a="http://schemas.openxmlformats.org/drawingml/2006/main">
              <a:ext uri="{FF2B5EF4-FFF2-40B4-BE49-F238E27FC236}">
                <a16:creationId xmlns:a16="http://schemas.microsoft.com/office/drawing/2014/main" id="{F11E1DA7-3EF7-406D-BB82-80AE5DFE2B01}"/>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75" b="1">
                <a:solidFill>
                  <a:srgbClr val="05244B"/>
                </a:solidFill>
                <a:latin typeface="Arial"/>
                <a:ea typeface="Arial"/>
                <a:cs typeface="Arial"/>
              </a:defRPr>
            </a:defPPr>
          </a:lstStyle>
          <a:p xmlns:a="http://schemas.openxmlformats.org/drawingml/2006/main">
            <a:pPr>
              <a:buNone/>
              <a:defRPr sz="3675" b="1">
                <a:solidFill>
                  <a:srgbClr val="05244B"/>
                </a:solidFill>
                <a:latin typeface="Arial"/>
                <a:ea typeface="Arial"/>
                <a:cs typeface="Arial"/>
              </a:defRPr>
            </a:pPr>
            <a:r>
              <a:rPr sz="3675" b="1">
                <a:solidFill>
                  <a:srgbClr val="05244B"/>
                </a:solidFill>
                <a:latin typeface="Arial"/>
                <a:ea typeface="Arial"/>
                <a:cs typeface="Arial"/>
              </a:rPr>
              <a:t>Finora puts the clues in one place</a:t>
            </a:r>
          </a:p>
        </p:txBody>
      </p:sp>
      <p:sp>
        <p:nvSpPr>
          <p:cNvPr id="4" name="THE EVERYDAY QUESTION">
            <a:extLst xmlns:a="http://schemas.openxmlformats.org/drawingml/2006/main">
              <a:ext uri="{FF2B5EF4-FFF2-40B4-BE49-F238E27FC236}">
                <a16:creationId xmlns:a16="http://schemas.microsoft.com/office/drawing/2014/main" id="{A93E4141-CCA0-45E9-80D3-FC5CC93FFCF3}"/>
              </a:ext>
            </a:extLst>
          </p:cNvPr>
          <p:cNvSpPr>
            <a:spLocks xmlns:a="http://schemas.openxmlformats.org/drawingml/2006/main" noGrp="1"/>
          </p:cNvSpPr>
          <p:nvPr/>
        </p:nvSpPr>
        <p:spPr>
          <a:xfrm xmlns:a="http://schemas.openxmlformats.org/drawingml/2006/main">
            <a:off x="723900" y="24669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07589"/>
                </a:solidFill>
                <a:latin typeface="Arial"/>
                <a:ea typeface="Arial"/>
                <a:cs typeface="Arial"/>
              </a:defRPr>
            </a:defPPr>
          </a:lstStyle>
          <a:p xmlns:a="http://schemas.openxmlformats.org/drawingml/2006/main">
            <a:pPr>
              <a:buNone/>
              <a:defRPr sz="1425" b="1">
                <a:solidFill>
                  <a:srgbClr val="607589"/>
                </a:solidFill>
                <a:latin typeface="Arial"/>
                <a:ea typeface="Arial"/>
                <a:cs typeface="Arial"/>
              </a:defRPr>
            </a:pPr>
            <a:r>
              <a:rPr sz="1425" b="1">
                <a:solidFill>
                  <a:srgbClr val="607589"/>
                </a:solidFill>
                <a:latin typeface="Arial"/>
                <a:ea typeface="Arial"/>
                <a:cs typeface="Arial"/>
              </a:rPr>
              <a:t>THE EVERYDAY QUESTION</a:t>
            </a:r>
          </a:p>
        </p:txBody>
      </p:sp>
      <p:sp>
        <p:nvSpPr>
          <p:cNvPr id="5" name="FINORA’S ANSWER">
            <a:extLst xmlns:a="http://schemas.openxmlformats.org/drawingml/2006/main">
              <a:ext uri="{FF2B5EF4-FFF2-40B4-BE49-F238E27FC236}">
                <a16:creationId xmlns:a16="http://schemas.microsoft.com/office/drawing/2014/main" id="{88394456-1B17-41C7-ADBF-B16BEC2FEDA8}"/>
              </a:ext>
            </a:extLst>
          </p:cNvPr>
          <p:cNvSpPr>
            <a:spLocks xmlns:a="http://schemas.openxmlformats.org/drawingml/2006/main" noGrp="1"/>
          </p:cNvSpPr>
          <p:nvPr/>
        </p:nvSpPr>
        <p:spPr>
          <a:xfrm xmlns:a="http://schemas.openxmlformats.org/drawingml/2006/main">
            <a:off x="6334125" y="24669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008B7B"/>
                </a:solidFill>
                <a:latin typeface="Arial"/>
                <a:ea typeface="Arial"/>
                <a:cs typeface="Arial"/>
              </a:defRPr>
            </a:defPPr>
          </a:lstStyle>
          <a:p xmlns:a="http://schemas.openxmlformats.org/drawingml/2006/main">
            <a:pPr>
              <a:buNone/>
              <a:defRPr sz="1425" b="1">
                <a:solidFill>
                  <a:srgbClr val="008B7B"/>
                </a:solidFill>
                <a:latin typeface="Arial"/>
                <a:ea typeface="Arial"/>
                <a:cs typeface="Arial"/>
              </a:defRPr>
            </a:pPr>
            <a:r>
              <a:rPr sz="1425" b="1">
                <a:solidFill>
                  <a:srgbClr val="008B7B"/>
                </a:solidFill>
                <a:latin typeface="Arial"/>
                <a:ea typeface="Arial"/>
                <a:cs typeface="Arial"/>
              </a:rPr>
              <a:t>FINORA’S ANSWER</a:t>
            </a:r>
          </a:p>
        </p:txBody>
      </p:sp>
      <p:sp>
        <p:nvSpPr>
          <p:cNvPr id="6" name="Where did it go?">
            <a:extLst xmlns:a="http://schemas.openxmlformats.org/drawingml/2006/main">
              <a:ext uri="{FF2B5EF4-FFF2-40B4-BE49-F238E27FC236}">
                <a16:creationId xmlns:a16="http://schemas.microsoft.com/office/drawing/2014/main" id="{09E52CAE-7C4D-4725-B77D-31CAD1C171E0}"/>
              </a:ext>
            </a:extLst>
          </p:cNvPr>
          <p:cNvSpPr>
            <a:spLocks xmlns:a="http://schemas.openxmlformats.org/drawingml/2006/main" noGrp="1"/>
          </p:cNvSpPr>
          <p:nvPr/>
        </p:nvSpPr>
        <p:spPr>
          <a:xfrm xmlns:a="http://schemas.openxmlformats.org/drawingml/2006/main">
            <a:off x="723900" y="308610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Where did it go?</a:t>
            </a:r>
          </a:p>
        </p:txBody>
      </p:sp>
      <p:sp>
        <p:nvSpPr>
          <p:cNvPr id="7" name="One searchable transaction list">
            <a:extLst xmlns:a="http://schemas.openxmlformats.org/drawingml/2006/main">
              <a:ext uri="{FF2B5EF4-FFF2-40B4-BE49-F238E27FC236}">
                <a16:creationId xmlns:a16="http://schemas.microsoft.com/office/drawing/2014/main" id="{8FE7C76F-CE9B-4ABC-9EB2-1EBB9F42539C}"/>
              </a:ext>
            </a:extLst>
          </p:cNvPr>
          <p:cNvSpPr>
            <a:spLocks xmlns:a="http://schemas.openxmlformats.org/drawingml/2006/main" noGrp="1"/>
          </p:cNvSpPr>
          <p:nvPr/>
        </p:nvSpPr>
        <p:spPr>
          <a:xfrm xmlns:a="http://schemas.openxmlformats.org/drawingml/2006/main">
            <a:off x="6334125" y="308610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buNone/>
              <a:defRPr sz="2175" b="1">
                <a:solidFill>
                  <a:srgbClr val="008B7B"/>
                </a:solidFill>
                <a:latin typeface="Arial"/>
                <a:ea typeface="Arial"/>
                <a:cs typeface="Arial"/>
              </a:defRPr>
            </a:pPr>
            <a:r>
              <a:rPr sz="2175" b="1">
                <a:solidFill>
                  <a:srgbClr val="008B7B"/>
                </a:solidFill>
                <a:latin typeface="Arial"/>
                <a:ea typeface="Arial"/>
                <a:cs typeface="Arial"/>
              </a:rPr>
              <a:t>One searchable transaction list</a:t>
            </a:r>
          </a:p>
        </p:txBody>
      </p:sp>
      <p:sp>
        <p:nvSpPr>
          <p:cNvPr id="8" name="Income and spending stay together.">
            <a:extLst xmlns:a="http://schemas.openxmlformats.org/drawingml/2006/main">
              <a:ext uri="{FF2B5EF4-FFF2-40B4-BE49-F238E27FC236}">
                <a16:creationId xmlns:a16="http://schemas.microsoft.com/office/drawing/2014/main" id="{89A709A1-E944-4C37-90E5-590E6C588B9E}"/>
              </a:ext>
            </a:extLst>
          </p:cNvPr>
          <p:cNvSpPr>
            <a:spLocks xmlns:a="http://schemas.openxmlformats.org/drawingml/2006/main" noGrp="1"/>
          </p:cNvSpPr>
          <p:nvPr/>
        </p:nvSpPr>
        <p:spPr>
          <a:xfrm xmlns:a="http://schemas.openxmlformats.org/drawingml/2006/main">
            <a:off x="6334125" y="35433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buNone/>
              <a:defRPr sz="1725" b="0">
                <a:solidFill>
                  <a:srgbClr val="607589"/>
                </a:solidFill>
                <a:latin typeface="Arial"/>
                <a:ea typeface="Arial"/>
                <a:cs typeface="Arial"/>
              </a:defRPr>
            </a:pPr>
            <a:r>
              <a:rPr sz="1725" b="0">
                <a:solidFill>
                  <a:srgbClr val="607589"/>
                </a:solidFill>
                <a:latin typeface="Arial"/>
                <a:ea typeface="Arial"/>
                <a:cs typeface="Arial"/>
              </a:rPr>
              <a:t>Income and spending stay together.</a:t>
            </a:r>
          </a:p>
        </p:txBody>
      </p:sp>
      <p:sp>
        <p:nvSpPr>
          <p:cNvPr id="9" name="Am I over budget?">
            <a:extLst xmlns:a="http://schemas.openxmlformats.org/drawingml/2006/main">
              <a:ext uri="{FF2B5EF4-FFF2-40B4-BE49-F238E27FC236}">
                <a16:creationId xmlns:a16="http://schemas.microsoft.com/office/drawing/2014/main" id="{EDCB9810-E44F-4469-B8FF-AC9ED537BD01}"/>
              </a:ext>
            </a:extLst>
          </p:cNvPr>
          <p:cNvSpPr>
            <a:spLocks xmlns:a="http://schemas.openxmlformats.org/drawingml/2006/main" noGrp="1"/>
          </p:cNvSpPr>
          <p:nvPr/>
        </p:nvSpPr>
        <p:spPr>
          <a:xfrm xmlns:a="http://schemas.openxmlformats.org/drawingml/2006/main">
            <a:off x="723900" y="4086225"/>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Am I over budget?</a:t>
            </a:r>
          </a:p>
        </p:txBody>
      </p:sp>
      <p:sp>
        <p:nvSpPr>
          <p:cNvPr id="10" name="Category limits with clear status">
            <a:extLst xmlns:a="http://schemas.openxmlformats.org/drawingml/2006/main">
              <a:ext uri="{FF2B5EF4-FFF2-40B4-BE49-F238E27FC236}">
                <a16:creationId xmlns:a16="http://schemas.microsoft.com/office/drawing/2014/main" id="{82C5A7A1-C0D5-42FB-9643-4D11A44BF332}"/>
              </a:ext>
            </a:extLst>
          </p:cNvPr>
          <p:cNvSpPr>
            <a:spLocks xmlns:a="http://schemas.openxmlformats.org/drawingml/2006/main" noGrp="1"/>
          </p:cNvSpPr>
          <p:nvPr/>
        </p:nvSpPr>
        <p:spPr>
          <a:xfrm xmlns:a="http://schemas.openxmlformats.org/drawingml/2006/main">
            <a:off x="6334125" y="408622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buNone/>
              <a:defRPr sz="2175" b="1">
                <a:solidFill>
                  <a:srgbClr val="008B7B"/>
                </a:solidFill>
                <a:latin typeface="Arial"/>
                <a:ea typeface="Arial"/>
                <a:cs typeface="Arial"/>
              </a:defRPr>
            </a:pPr>
            <a:r>
              <a:rPr sz="2175" b="1">
                <a:solidFill>
                  <a:srgbClr val="008B7B"/>
                </a:solidFill>
                <a:latin typeface="Arial"/>
                <a:ea typeface="Arial"/>
                <a:cs typeface="Arial"/>
              </a:rPr>
              <a:t>Category limits with clear status</a:t>
            </a:r>
          </a:p>
        </p:txBody>
      </p:sp>
      <p:sp>
        <p:nvSpPr>
          <p:cNvPr id="11" name="The amount left or over is visible.">
            <a:extLst xmlns:a="http://schemas.openxmlformats.org/drawingml/2006/main">
              <a:ext uri="{FF2B5EF4-FFF2-40B4-BE49-F238E27FC236}">
                <a16:creationId xmlns:a16="http://schemas.microsoft.com/office/drawing/2014/main" id="{B1B428B5-12CF-49A6-B64A-A3F0E5F2D55B}"/>
              </a:ext>
            </a:extLst>
          </p:cNvPr>
          <p:cNvSpPr>
            <a:spLocks xmlns:a="http://schemas.openxmlformats.org/drawingml/2006/main" noGrp="1"/>
          </p:cNvSpPr>
          <p:nvPr/>
        </p:nvSpPr>
        <p:spPr>
          <a:xfrm xmlns:a="http://schemas.openxmlformats.org/drawingml/2006/main">
            <a:off x="6334125" y="454342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buNone/>
              <a:defRPr sz="1725" b="0">
                <a:solidFill>
                  <a:srgbClr val="607589"/>
                </a:solidFill>
                <a:latin typeface="Arial"/>
                <a:ea typeface="Arial"/>
                <a:cs typeface="Arial"/>
              </a:defRPr>
            </a:pPr>
            <a:r>
              <a:rPr sz="1725" b="0">
                <a:solidFill>
                  <a:srgbClr val="607589"/>
                </a:solidFill>
                <a:latin typeface="Arial"/>
                <a:ea typeface="Arial"/>
                <a:cs typeface="Arial"/>
              </a:rPr>
              <a:t>The amount left or over is visible.</a:t>
            </a:r>
          </a:p>
        </p:txBody>
      </p:sp>
      <p:sp>
        <p:nvSpPr>
          <p:cNvPr id="12" name="How did the month go?">
            <a:extLst xmlns:a="http://schemas.openxmlformats.org/drawingml/2006/main">
              <a:ext uri="{FF2B5EF4-FFF2-40B4-BE49-F238E27FC236}">
                <a16:creationId xmlns:a16="http://schemas.microsoft.com/office/drawing/2014/main" id="{9CD83D6D-DB4F-4B46-A508-447C45F32904}"/>
              </a:ext>
            </a:extLst>
          </p:cNvPr>
          <p:cNvSpPr>
            <a:spLocks xmlns:a="http://schemas.openxmlformats.org/drawingml/2006/main" noGrp="1"/>
          </p:cNvSpPr>
          <p:nvPr/>
        </p:nvSpPr>
        <p:spPr>
          <a:xfrm xmlns:a="http://schemas.openxmlformats.org/drawingml/2006/main">
            <a:off x="723900" y="508635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How did the month go?</a:t>
            </a:r>
          </a:p>
        </p:txBody>
      </p:sp>
      <p:sp>
        <p:nvSpPr>
          <p:cNvPr id="13" name="A readable monthly report">
            <a:extLst xmlns:a="http://schemas.openxmlformats.org/drawingml/2006/main">
              <a:ext uri="{FF2B5EF4-FFF2-40B4-BE49-F238E27FC236}">
                <a16:creationId xmlns:a16="http://schemas.microsoft.com/office/drawing/2014/main" id="{FE24F383-EF08-489E-A98C-8CDE6A1084C1}"/>
              </a:ext>
            </a:extLst>
          </p:cNvPr>
          <p:cNvSpPr>
            <a:spLocks xmlns:a="http://schemas.openxmlformats.org/drawingml/2006/main" noGrp="1"/>
          </p:cNvSpPr>
          <p:nvPr/>
        </p:nvSpPr>
        <p:spPr>
          <a:xfrm xmlns:a="http://schemas.openxmlformats.org/drawingml/2006/main">
            <a:off x="6334125" y="50863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buNone/>
              <a:defRPr sz="2175" b="1">
                <a:solidFill>
                  <a:srgbClr val="008B7B"/>
                </a:solidFill>
                <a:latin typeface="Arial"/>
                <a:ea typeface="Arial"/>
                <a:cs typeface="Arial"/>
              </a:defRPr>
            </a:pPr>
            <a:r>
              <a:rPr sz="2175" b="1">
                <a:solidFill>
                  <a:srgbClr val="008B7B"/>
                </a:solidFill>
                <a:latin typeface="Arial"/>
                <a:ea typeface="Arial"/>
                <a:cs typeface="Arial"/>
              </a:rPr>
              <a:t>A readable monthly report</a:t>
            </a:r>
          </a:p>
        </p:txBody>
      </p:sp>
      <p:sp>
        <p:nvSpPr>
          <p:cNvPr id="14" name="Totals and categories explain the month.">
            <a:extLst xmlns:a="http://schemas.openxmlformats.org/drawingml/2006/main">
              <a:ext uri="{FF2B5EF4-FFF2-40B4-BE49-F238E27FC236}">
                <a16:creationId xmlns:a16="http://schemas.microsoft.com/office/drawing/2014/main" id="{94BC0F24-FFF9-4CE6-813B-B59B1820ECA6}"/>
              </a:ext>
            </a:extLst>
          </p:cNvPr>
          <p:cNvSpPr>
            <a:spLocks xmlns:a="http://schemas.openxmlformats.org/drawingml/2006/main" noGrp="1"/>
          </p:cNvSpPr>
          <p:nvPr/>
        </p:nvSpPr>
        <p:spPr>
          <a:xfrm xmlns:a="http://schemas.openxmlformats.org/drawingml/2006/main">
            <a:off x="6334125" y="55435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buNone/>
              <a:defRPr sz="1725" b="0">
                <a:solidFill>
                  <a:srgbClr val="607589"/>
                </a:solidFill>
                <a:latin typeface="Arial"/>
                <a:ea typeface="Arial"/>
                <a:cs typeface="Arial"/>
              </a:defRPr>
            </a:pPr>
            <a:r>
              <a:rPr sz="1725" b="0">
                <a:solidFill>
                  <a:srgbClr val="607589"/>
                </a:solidFill>
                <a:latin typeface="Arial"/>
                <a:ea typeface="Arial"/>
                <a:cs typeface="Arial"/>
              </a:rPr>
              <a:t>Totals and categories explain the month.</a:t>
            </a:r>
          </a:p>
        </p:txBody>
      </p:sp>
      <p:sp>
        <p:nvSpPr>
          <p:cNvPr id="15" name="">
            <a:extLst xmlns:a="http://schemas.openxmlformats.org/drawingml/2006/main">
              <a:ext uri="{FF2B5EF4-FFF2-40B4-BE49-F238E27FC236}">
                <a16:creationId xmlns:a16="http://schemas.microsoft.com/office/drawing/2014/main" id="{8FBBBC59-26F4-46CC-B177-11AFC44D0BC9}"/>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6" name="04">
            <a:extLst xmlns:a="http://schemas.openxmlformats.org/drawingml/2006/main">
              <a:ext uri="{FF2B5EF4-FFF2-40B4-BE49-F238E27FC236}">
                <a16:creationId xmlns:a16="http://schemas.microsoft.com/office/drawing/2014/main" id="{1B8E2C67-CD22-4001-886B-123CD4802B24}"/>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1523799494"/>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5A3BE98-AB2E-48F9-B57C-84FA409E5BFE}"/>
              </a:ext>
            </a:extLst>
          </p:cNvPr>
          <p:cNvPicPr>
            <a:picLocks xmlns:a="http://schemas.openxmlformats.org/drawingml/2006/main" noChangeAspect="1"/>
          </p:cNvPicPr>
          <p:nvPr/>
        </p:nvPicPr>
        <p:blipFill>
          <a:blip xmlns:r="http://schemas.openxmlformats.org/officeDocument/2006/relationships" xmlns:a="http://schemas.openxmlformats.org/drawingml/2006/main" r:embed="Re698bb3f7ede4f77"/>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1735969-222C-417D-9C44-C080653F3D4A}"/>
              </a:ext>
            </a:extLst>
          </p:cNvPr>
          <p:cNvPicPr>
            <a:picLocks xmlns:a="http://schemas.openxmlformats.org/drawingml/2006/main" noChangeAspect="1"/>
          </p:cNvPicPr>
          <p:nvPr/>
        </p:nvPicPr>
        <p:blipFill>
          <a:blip xmlns:r="http://schemas.openxmlformats.org/officeDocument/2006/relationships" xmlns:a="http://schemas.openxmlformats.org/drawingml/2006/main" r:embed="Rccab9328a5154b6b"/>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9B664F9D-EF6B-41E9-97C2-A440E74238B9}"/>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buNone/>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0161AD80-E8C6-489C-B005-543700BA8600}"/>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65DC3984-53C6-4363-B36F-A785B4F50E92}"/>
              </a:ext>
            </a:extLst>
          </p:cNvPr>
          <p:cNvPicPr>
            <a:picLocks xmlns:a="http://schemas.openxmlformats.org/drawingml/2006/main" noChangeAspect="1"/>
          </p:cNvPicPr>
          <p:nvPr/>
        </p:nvPicPr>
        <p:blipFill>
          <a:blip xmlns:r="http://schemas.openxmlformats.org/officeDocument/2006/relationships" xmlns:a="http://schemas.openxmlformats.org/drawingml/2006/main" r:embed="R976b3a2761494d53"/>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49A8C277-9F32-4E2F-A15A-D11A44FFF49D}"/>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buNone/>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A6F1294C-24F1-4267-8EBF-0820E2D89957}"/>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buNone/>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D3FE5716-5A40-4CA9-96FA-8E85A08ECDDE}"/>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18A62F67-6FE9-4DCC-A65B-F26872E6546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708699459"/>
      </p:ext>
    </p:extLst>
  </p:cSld>
  <p:transition spd="fast" advClick="1">
    <p:fade/>
  </p:transition>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66D71CF-E62E-4B84-AFE1-DCC49F786ADA}"/>
              </a:ext>
            </a:extLst>
          </p:cNvPr>
          <p:cNvPicPr>
            <a:picLocks xmlns:a="http://schemas.openxmlformats.org/drawingml/2006/main" noChangeAspect="1"/>
          </p:cNvPicPr>
          <p:nvPr/>
        </p:nvPicPr>
        <p:blipFill>
          <a:blip xmlns:r="http://schemas.openxmlformats.org/officeDocument/2006/relationships" xmlns:a="http://schemas.openxmlformats.org/drawingml/2006/main" r:embed="R70c706cd94004c3c"/>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7324E08-C073-469E-ABE4-57939F6940A8}"/>
              </a:ext>
            </a:extLst>
          </p:cNvPr>
          <p:cNvPicPr>
            <a:picLocks xmlns:a="http://schemas.openxmlformats.org/drawingml/2006/main" noChangeAspect="1"/>
          </p:cNvPicPr>
          <p:nvPr/>
        </p:nvPicPr>
        <p:blipFill>
          <a:blip xmlns:r="http://schemas.openxmlformats.org/officeDocument/2006/relationships" xmlns:a="http://schemas.openxmlformats.org/drawingml/2006/main" r:embed="R97b1b53ed05148d5"/>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605D89CB-89F5-4E98-9911-14B10AAEA83C}"/>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buNone/>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F4D6AECF-E702-4C25-B54B-2519D5169973}"/>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E199F9C7-5871-400A-8192-245FF98A42F5}"/>
              </a:ext>
            </a:extLst>
          </p:cNvPr>
          <p:cNvPicPr>
            <a:picLocks xmlns:a="http://schemas.openxmlformats.org/drawingml/2006/main" noChangeAspect="1"/>
          </p:cNvPicPr>
          <p:nvPr/>
        </p:nvPicPr>
        <p:blipFill>
          <a:blip xmlns:r="http://schemas.openxmlformats.org/officeDocument/2006/relationships" xmlns:a="http://schemas.openxmlformats.org/drawingml/2006/main" r:embed="Rb23946a84d1341d8"/>
          <a:stretch xmlns:a="http://schemas.openxmlformats.org/drawingml/2006/main"/>
        </p:blipFill>
        <p:spPr>
          <a:xfrm xmlns:a="http://schemas.openxmlformats.org/drawingml/2006/main">
            <a:off x="1850858" y="2600325"/>
            <a:ext cx="8490284" cy="3476625"/>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116A6F5C-4A9D-4B96-AF11-261006631D1A}"/>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85E562EF-8FD9-46B4-989D-60B9C0C1FEF2}"/>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304015444"/>
      </p:ext>
    </p:extLst>
  </p:cSld>
  <p:transition spd="fast" advClick="1">
    <p:fade/>
  </p:transition>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D443D7B-C6C2-4772-8E66-EC96F7237378}"/>
              </a:ext>
            </a:extLst>
          </p:cNvPr>
          <p:cNvPicPr>
            <a:picLocks xmlns:a="http://schemas.openxmlformats.org/drawingml/2006/main" noChangeAspect="1"/>
          </p:cNvPicPr>
          <p:nvPr/>
        </p:nvPicPr>
        <p:blipFill>
          <a:blip xmlns:r="http://schemas.openxmlformats.org/officeDocument/2006/relationships" xmlns:a="http://schemas.openxmlformats.org/drawingml/2006/main" r:embed="R7c7db4b27b9f4168"/>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CEC3862-990F-474E-9FB1-2E83CC919391}"/>
              </a:ext>
            </a:extLst>
          </p:cNvPr>
          <p:cNvPicPr>
            <a:picLocks xmlns:a="http://schemas.openxmlformats.org/drawingml/2006/main" noChangeAspect="1"/>
          </p:cNvPicPr>
          <p:nvPr/>
        </p:nvPicPr>
        <p:blipFill>
          <a:blip xmlns:r="http://schemas.openxmlformats.org/officeDocument/2006/relationships" xmlns:a="http://schemas.openxmlformats.org/drawingml/2006/main" r:embed="R119c61983770481f"/>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7F5D0F98-A64F-4C56-AC41-812B6D3840CE}"/>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buNone/>
              <a:defRPr sz="3750" b="1">
                <a:solidFill>
                  <a:srgbClr val="05244B"/>
                </a:solidFill>
                <a:latin typeface="Arial"/>
                <a:ea typeface="Arial"/>
                <a:cs typeface="Arial"/>
              </a:defRPr>
            </a:pPr>
            <a:r>
              <a:rPr sz="3750" b="1">
                <a:solidFill>
                  <a:srgbClr val="05244B"/>
                </a:solidFill>
                <a:latin typeface="Arial"/>
                <a:ea typeface="Arial"/>
                <a:cs typeface="Arial"/>
              </a:rPr>
              <a:t>Am I staying within my budget?</a:t>
            </a:r>
          </a:p>
        </p:txBody>
      </p:sp>
      <p:sp>
        <p:nvSpPr>
          <p:cNvPr id="4" name="A monthly limit for&#10;each spending category">
            <a:extLst xmlns:a="http://schemas.openxmlformats.org/drawingml/2006/main">
              <a:ext uri="{FF2B5EF4-FFF2-40B4-BE49-F238E27FC236}">
                <a16:creationId xmlns:a16="http://schemas.microsoft.com/office/drawing/2014/main" id="{100F0809-0F83-4772-B4D8-704952AF2763}"/>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36CF249B-1D16-4A60-9988-EC0353FC73B3}"/>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51AB9711-ABCE-4978-BB12-1388ACC5F36F}"/>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buNone/>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DEF5CD3C-801B-4AC3-9D34-A07A82B401FD}"/>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8E815442-DDA0-4A19-9CB4-662CD869E376}"/>
              </a:ext>
            </a:extLst>
          </p:cNvPr>
          <p:cNvPicPr>
            <a:picLocks xmlns:a="http://schemas.openxmlformats.org/drawingml/2006/main" noChangeAspect="1"/>
          </p:cNvPicPr>
          <p:nvPr/>
        </p:nvPicPr>
        <p:blipFill>
          <a:blip xmlns:r="http://schemas.openxmlformats.org/officeDocument/2006/relationships" xmlns:a="http://schemas.openxmlformats.org/drawingml/2006/main" r:embed="R7db97b3c04a94c7b"/>
          <a:stretch xmlns:a="http://schemas.openxmlformats.org/drawingml/2006/main"/>
        </p:blipFill>
        <p:spPr>
          <a:xfrm xmlns:a="http://schemas.openxmlformats.org/drawingml/2006/main">
            <a:off x="6572250" y="2143125"/>
            <a:ext cx="4667250" cy="386890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5401FE53-9CFA-4DA6-9F10-B0FE1F14D0C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EB8AFEC0-F4CD-42D7-A250-E1F39FD8B57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08</a:t>
            </a:r>
          </a:p>
        </p:txBody>
      </p:sp>
    </p:spTree>
    <p:extLst>
      <p:ext uri="{BB962C8B-B14F-4D97-AF65-F5344CB8AC3E}">
        <p14:creationId xmlns:p14="http://schemas.microsoft.com/office/powerpoint/2010/main" val="486844490"/>
      </p:ext>
    </p:extLst>
  </p:cSld>
  <p:transition spd="fast" advClick="1">
    <p:fade/>
  </p:transition>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B94AFD2-AE5E-4948-ADAC-8E376539EA76}"/>
              </a:ext>
            </a:extLst>
          </p:cNvPr>
          <p:cNvPicPr>
            <a:picLocks xmlns:a="http://schemas.openxmlformats.org/drawingml/2006/main" noChangeAspect="1"/>
          </p:cNvPicPr>
          <p:nvPr/>
        </p:nvPicPr>
        <p:blipFill>
          <a:blip xmlns:r="http://schemas.openxmlformats.org/officeDocument/2006/relationships" xmlns:a="http://schemas.openxmlformats.org/drawingml/2006/main" r:embed="Rb80b3acd29d7442d"/>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BE151CC-3D5B-405C-8513-2D3D33647FAC}"/>
              </a:ext>
            </a:extLst>
          </p:cNvPr>
          <p:cNvPicPr>
            <a:picLocks xmlns:a="http://schemas.openxmlformats.org/drawingml/2006/main" noChangeAspect="1"/>
          </p:cNvPicPr>
          <p:nvPr/>
        </p:nvPicPr>
        <p:blipFill>
          <a:blip xmlns:r="http://schemas.openxmlformats.org/officeDocument/2006/relationships" xmlns:a="http://schemas.openxmlformats.org/drawingml/2006/main" r:embed="Ra05f1687bd7840f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AC630ABF-7FD9-4062-AF3D-D515E114B007}"/>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buNone/>
              <a:defRPr sz="3300" b="1">
                <a:solidFill>
                  <a:srgbClr val="05244B"/>
                </a:solidFill>
                <a:latin typeface="Arial"/>
                <a:ea typeface="Arial"/>
                <a:cs typeface="Arial"/>
              </a:defRPr>
            </a:pPr>
            <a:r>
              <a:rPr sz="3300" b="1">
                <a:solidFill>
                  <a:srgbClr val="05244B"/>
                </a:solidFill>
                <a:latin typeface="Arial"/>
                <a:ea typeface="Arial"/>
                <a:cs typeface="Arial"/>
              </a:rPr>
              <a:t>What can I learn from this month?</a:t>
            </a:r>
          </a:p>
        </p:txBody>
      </p:sp>
      <p:sp>
        <p:nvSpPr>
          <p:cNvPr id="4" name="A category breakdown explains where the money went.">
            <a:extLst xmlns:a="http://schemas.openxmlformats.org/drawingml/2006/main">
              <a:ext uri="{FF2B5EF4-FFF2-40B4-BE49-F238E27FC236}">
                <a16:creationId xmlns:a16="http://schemas.microsoft.com/office/drawing/2014/main" id="{43F7F7F2-570C-4915-ADC6-27B30A814F23}"/>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BDA13963-E4F9-46CC-9A29-7A692E62EAD7}"/>
              </a:ext>
            </a:extLst>
          </p:cNvPr>
          <p:cNvPicPr>
            <a:picLocks xmlns:a="http://schemas.openxmlformats.org/drawingml/2006/main" noChangeAspect="1"/>
          </p:cNvPicPr>
          <p:nvPr/>
        </p:nvPicPr>
        <p:blipFill>
          <a:blip xmlns:r="http://schemas.openxmlformats.org/officeDocument/2006/relationships" xmlns:a="http://schemas.openxmlformats.org/drawingml/2006/main" r:embed="Rd5d3a364cec24d7a"/>
          <a:stretch xmlns:a="http://schemas.openxmlformats.org/drawingml/2006/main"/>
        </p:blipFill>
        <p:spPr>
          <a:xfrm xmlns:a="http://schemas.openxmlformats.org/drawingml/2006/main">
            <a:off x="685800" y="2686050"/>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563EBD00-494E-4DEA-8D1D-B795D3F7EE1E}"/>
              </a:ext>
            </a:extLst>
          </p:cNvPr>
          <p:cNvSpPr>
            <a:spLocks xmlns:a="http://schemas.openxmlformats.org/drawingml/2006/main" noGrp="1"/>
          </p:cNvSpPr>
          <p:nvPr/>
        </p:nvSpPr>
        <p:spPr>
          <a:xfrm xmlns:a="http://schemas.openxmlformats.org/drawingml/2006/main">
            <a:off x="72390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08B7B"/>
                </a:solidFill>
                <a:latin typeface="Arial"/>
                <a:ea typeface="Arial"/>
                <a:cs typeface="Arial"/>
              </a:defRPr>
            </a:defPPr>
          </a:lstStyle>
          <a:p xmlns:a="http://schemas.openxmlformats.org/drawingml/2006/main">
            <a:pPr>
              <a:buNone/>
              <a:defRPr sz="1950" b="1">
                <a:solidFill>
                  <a:srgbClr val="008B7B"/>
                </a:solidFill>
                <a:latin typeface="Arial"/>
                <a:ea typeface="Arial"/>
                <a:cs typeface="Arial"/>
              </a:defRPr>
            </a:pPr>
            <a:r>
              <a:rPr sz="1950"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936961B3-5C58-4F5A-BF1A-3A74DF0C7E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765C3B72-E6A1-47FA-B553-0FA24B22E51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09</a:t>
            </a:r>
          </a:p>
        </p:txBody>
      </p:sp>
    </p:spTree>
    <p:extLst>
      <p:ext uri="{BB962C8B-B14F-4D97-AF65-F5344CB8AC3E}">
        <p14:creationId xmlns:p14="http://schemas.microsoft.com/office/powerpoint/2010/main" val="1969697780"/>
      </p:ext>
    </p:extLst>
  </p:cSld>
  <p:transition spd="fast" advClick="1">
    <p:fade/>
  </p:transition>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0BF2154-0450-48E5-BA3B-B3FE10DEC583}"/>
              </a:ext>
            </a:extLst>
          </p:cNvPr>
          <p:cNvPicPr>
            <a:picLocks xmlns:a="http://schemas.openxmlformats.org/drawingml/2006/main" noChangeAspect="1"/>
          </p:cNvPicPr>
          <p:nvPr/>
        </p:nvPicPr>
        <p:blipFill>
          <a:blip xmlns:r="http://schemas.openxmlformats.org/officeDocument/2006/relationships" xmlns:a="http://schemas.openxmlformats.org/drawingml/2006/main" r:embed="R393eb49e227945cb"/>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50BA5DF3-261E-4DD6-9F2D-2772450EBFAF}"/>
              </a:ext>
            </a:extLst>
          </p:cNvPr>
          <p:cNvPicPr>
            <a:picLocks xmlns:a="http://schemas.openxmlformats.org/drawingml/2006/main" noChangeAspect="1"/>
          </p:cNvPicPr>
          <p:nvPr/>
        </p:nvPicPr>
        <p:blipFill>
          <a:blip xmlns:r="http://schemas.openxmlformats.org/officeDocument/2006/relationships" xmlns:a="http://schemas.openxmlformats.org/drawingml/2006/main" r:embed="R22ac1606733145d2"/>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Why choose Finora?">
            <a:extLst xmlns:a="http://schemas.openxmlformats.org/drawingml/2006/main">
              <a:ext uri="{FF2B5EF4-FFF2-40B4-BE49-F238E27FC236}">
                <a16:creationId xmlns:a16="http://schemas.microsoft.com/office/drawing/2014/main" id="{9B5104DD-9799-42D3-87D6-B8F6CEBA73FF}"/>
              </a:ext>
            </a:extLst>
          </p:cNvPr>
          <p:cNvSpPr>
            <a:spLocks xmlns:a="http://schemas.openxmlformats.org/drawingml/2006/main" noGrp="1"/>
          </p:cNvSpPr>
          <p:nvPr/>
        </p:nvSpPr>
        <p:spPr>
          <a:xfrm xmlns:a="http://schemas.openxmlformats.org/drawingml/2006/main">
            <a:off x="685800" y="1352550"/>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75" b="1">
                <a:solidFill>
                  <a:srgbClr val="05244B"/>
                </a:solidFill>
                <a:latin typeface="Arial"/>
                <a:ea typeface="Arial"/>
                <a:cs typeface="Arial"/>
              </a:defRPr>
            </a:defPPr>
          </a:lstStyle>
          <a:p xmlns:a="http://schemas.openxmlformats.org/drawingml/2006/main">
            <a:pPr>
              <a:buNone/>
              <a:defRPr sz="3675" b="1">
                <a:solidFill>
                  <a:srgbClr val="05244B"/>
                </a:solidFill>
                <a:latin typeface="Arial"/>
                <a:ea typeface="Arial"/>
                <a:cs typeface="Arial"/>
              </a:defRPr>
            </a:pPr>
            <a:r>
              <a:rPr sz="3675" b="1">
                <a:solidFill>
                  <a:srgbClr val="05244B"/>
                </a:solidFill>
                <a:latin typeface="Arial"/>
                <a:ea typeface="Arial"/>
                <a:cs typeface="Arial"/>
              </a:rPr>
              <a:t>Why Finora belongs in your day</a:t>
            </a:r>
          </a:p>
        </p:txBody>
      </p:sp>
      <p:sp>
        <p:nvSpPr>
          <p:cNvPr id="4" name="01">
            <a:extLst xmlns:a="http://schemas.openxmlformats.org/drawingml/2006/main">
              <a:ext uri="{FF2B5EF4-FFF2-40B4-BE49-F238E27FC236}">
                <a16:creationId xmlns:a16="http://schemas.microsoft.com/office/drawing/2014/main" id="{4EA3DA98-646D-4BFC-A732-B3EB69113BEA}"/>
              </a:ext>
            </a:extLst>
          </p:cNvPr>
          <p:cNvSpPr>
            <a:spLocks xmlns:a="http://schemas.openxmlformats.org/drawingml/2006/main" noGrp="1"/>
          </p:cNvSpPr>
          <p:nvPr/>
        </p:nvSpPr>
        <p:spPr>
          <a:xfrm xmlns:a="http://schemas.openxmlformats.org/drawingml/2006/main">
            <a:off x="723900" y="27051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buNone/>
              <a:defRPr sz="2400" b="1">
                <a:solidFill>
                  <a:srgbClr val="008B7B"/>
                </a:solidFill>
                <a:latin typeface="Arial"/>
                <a:ea typeface="Arial"/>
                <a:cs typeface="Arial"/>
              </a:defRPr>
            </a:pPr>
            <a:r>
              <a:rPr sz="2400" b="1">
                <a:solidFill>
                  <a:srgbClr val="008B7B"/>
                </a:solidFill>
                <a:latin typeface="Arial"/>
                <a:ea typeface="Arial"/>
                <a:cs typeface="Arial"/>
              </a:rPr>
              <a:t>01</a:t>
            </a:r>
          </a:p>
        </p:txBody>
      </p:sp>
      <p:sp>
        <p:nvSpPr>
          <p:cNvPr id="5" name="Easy to understand">
            <a:extLst xmlns:a="http://schemas.openxmlformats.org/drawingml/2006/main">
              <a:ext uri="{FF2B5EF4-FFF2-40B4-BE49-F238E27FC236}">
                <a16:creationId xmlns:a16="http://schemas.microsoft.com/office/drawing/2014/main" id="{B5F267C0-7728-46B4-85AB-AAF18CC3ED9F}"/>
              </a:ext>
            </a:extLst>
          </p:cNvPr>
          <p:cNvSpPr>
            <a:spLocks xmlns:a="http://schemas.openxmlformats.org/drawingml/2006/main" noGrp="1"/>
          </p:cNvSpPr>
          <p:nvPr/>
        </p:nvSpPr>
        <p:spPr>
          <a:xfrm xmlns:a="http://schemas.openxmlformats.org/drawingml/2006/main">
            <a:off x="1609725" y="27051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Less detective work</a:t>
            </a:r>
          </a:p>
        </p:txBody>
      </p:sp>
      <p:sp>
        <p:nvSpPr>
          <p:cNvPr id="6" name="Clear totals and category labels make the month easier to read.">
            <a:extLst xmlns:a="http://schemas.openxmlformats.org/drawingml/2006/main">
              <a:ext uri="{FF2B5EF4-FFF2-40B4-BE49-F238E27FC236}">
                <a16:creationId xmlns:a16="http://schemas.microsoft.com/office/drawing/2014/main" id="{93487B6C-747D-4241-AAB1-B1373AF9D199}"/>
              </a:ext>
            </a:extLst>
          </p:cNvPr>
          <p:cNvSpPr>
            <a:spLocks xmlns:a="http://schemas.openxmlformats.org/drawingml/2006/main" noGrp="1"/>
          </p:cNvSpPr>
          <p:nvPr/>
        </p:nvSpPr>
        <p:spPr>
          <a:xfrm xmlns:a="http://schemas.openxmlformats.org/drawingml/2006/main">
            <a:off x="1609725" y="31527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Find the entry behind the total with search and filters.</a:t>
            </a:r>
          </a:p>
        </p:txBody>
      </p:sp>
      <p:sp>
        <p:nvSpPr>
          <p:cNvPr id="7" name="02">
            <a:extLst xmlns:a="http://schemas.openxmlformats.org/drawingml/2006/main">
              <a:ext uri="{FF2B5EF4-FFF2-40B4-BE49-F238E27FC236}">
                <a16:creationId xmlns:a16="http://schemas.microsoft.com/office/drawing/2014/main" id="{134D8C18-5089-4873-8045-CE47CFBA9EC8}"/>
              </a:ext>
            </a:extLst>
          </p:cNvPr>
          <p:cNvSpPr>
            <a:spLocks xmlns:a="http://schemas.openxmlformats.org/drawingml/2006/main" noGrp="1"/>
          </p:cNvSpPr>
          <p:nvPr/>
        </p:nvSpPr>
        <p:spPr>
          <a:xfrm xmlns:a="http://schemas.openxmlformats.org/drawingml/2006/main">
            <a:off x="723900" y="371475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buNone/>
              <a:defRPr sz="2400" b="1">
                <a:solidFill>
                  <a:srgbClr val="008B7B"/>
                </a:solidFill>
                <a:latin typeface="Arial"/>
                <a:ea typeface="Arial"/>
                <a:cs typeface="Arial"/>
              </a:defRPr>
            </a:pPr>
            <a:r>
              <a:rPr sz="2400" b="1">
                <a:solidFill>
                  <a:srgbClr val="008B7B"/>
                </a:solidFill>
                <a:latin typeface="Arial"/>
                <a:ea typeface="Arial"/>
                <a:cs typeface="Arial"/>
              </a:rPr>
              <a:t>02</a:t>
            </a:r>
          </a:p>
        </p:txBody>
      </p:sp>
      <p:sp>
        <p:nvSpPr>
          <p:cNvPr id="8" name="You stay in control">
            <a:extLst xmlns:a="http://schemas.openxmlformats.org/drawingml/2006/main">
              <a:ext uri="{FF2B5EF4-FFF2-40B4-BE49-F238E27FC236}">
                <a16:creationId xmlns:a16="http://schemas.microsoft.com/office/drawing/2014/main" id="{06128D21-371D-45B7-AB4C-E05D24CD486B}"/>
              </a:ext>
            </a:extLst>
          </p:cNvPr>
          <p:cNvSpPr>
            <a:spLocks xmlns:a="http://schemas.openxmlformats.org/drawingml/2006/main" noGrp="1"/>
          </p:cNvSpPr>
          <p:nvPr/>
        </p:nvSpPr>
        <p:spPr>
          <a:xfrm xmlns:a="http://schemas.openxmlformats.org/drawingml/2006/main">
            <a:off x="1609725" y="3714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More say in your spending</a:t>
            </a:r>
          </a:p>
        </p:txBody>
      </p:sp>
      <p:sp>
        <p:nvSpPr>
          <p:cNvPr id="9" name="Edit entries and adjust category budgets as your plans change.">
            <a:extLst xmlns:a="http://schemas.openxmlformats.org/drawingml/2006/main">
              <a:ext uri="{FF2B5EF4-FFF2-40B4-BE49-F238E27FC236}">
                <a16:creationId xmlns:a16="http://schemas.microsoft.com/office/drawing/2014/main" id="{AE18A198-812D-4467-B261-50A48748D709}"/>
              </a:ext>
            </a:extLst>
          </p:cNvPr>
          <p:cNvSpPr>
            <a:spLocks xmlns:a="http://schemas.openxmlformats.org/drawingml/2006/main" noGrp="1"/>
          </p:cNvSpPr>
          <p:nvPr/>
        </p:nvSpPr>
        <p:spPr>
          <a:xfrm xmlns:a="http://schemas.openxmlformats.org/drawingml/2006/main">
            <a:off x="1609725" y="416242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Set your own limits and see how much room is left.</a:t>
            </a:r>
          </a:p>
        </p:txBody>
      </p:sp>
      <p:sp>
        <p:nvSpPr>
          <p:cNvPr id="10" name="03">
            <a:extLst xmlns:a="http://schemas.openxmlformats.org/drawingml/2006/main">
              <a:ext uri="{FF2B5EF4-FFF2-40B4-BE49-F238E27FC236}">
                <a16:creationId xmlns:a16="http://schemas.microsoft.com/office/drawing/2014/main" id="{F9A60959-6131-4B4C-BA84-CA2D9ECDD038}"/>
              </a:ext>
            </a:extLst>
          </p:cNvPr>
          <p:cNvSpPr>
            <a:spLocks xmlns:a="http://schemas.openxmlformats.org/drawingml/2006/main" noGrp="1"/>
          </p:cNvSpPr>
          <p:nvPr/>
        </p:nvSpPr>
        <p:spPr>
          <a:xfrm xmlns:a="http://schemas.openxmlformats.org/drawingml/2006/main">
            <a:off x="723900" y="47244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buNone/>
              <a:defRPr sz="2400" b="1">
                <a:solidFill>
                  <a:srgbClr val="008B7B"/>
                </a:solidFill>
                <a:latin typeface="Arial"/>
                <a:ea typeface="Arial"/>
                <a:cs typeface="Arial"/>
              </a:defRPr>
            </a:pPr>
            <a:r>
              <a:rPr sz="2400" b="1">
                <a:solidFill>
                  <a:srgbClr val="008B7B"/>
                </a:solidFill>
                <a:latin typeface="Arial"/>
                <a:ea typeface="Arial"/>
                <a:cs typeface="Arial"/>
              </a:rPr>
              <a:t>03</a:t>
            </a:r>
          </a:p>
        </p:txBody>
      </p:sp>
      <p:sp>
        <p:nvSpPr>
          <p:cNvPr id="11" name="Useful for everyday decisions">
            <a:extLst xmlns:a="http://schemas.openxmlformats.org/drawingml/2006/main">
              <a:ext uri="{FF2B5EF4-FFF2-40B4-BE49-F238E27FC236}">
                <a16:creationId xmlns:a16="http://schemas.microsoft.com/office/drawing/2014/main" id="{B65519FE-C18E-45EE-BD55-D269ABAAE4E4}"/>
              </a:ext>
            </a:extLst>
          </p:cNvPr>
          <p:cNvSpPr>
            <a:spLocks xmlns:a="http://schemas.openxmlformats.org/drawingml/2006/main" noGrp="1"/>
          </p:cNvSpPr>
          <p:nvPr/>
        </p:nvSpPr>
        <p:spPr>
          <a:xfrm xmlns:a="http://schemas.openxmlformats.org/drawingml/2006/main">
            <a:off x="1609725" y="47244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buNone/>
              <a:defRPr sz="2325" b="1">
                <a:solidFill>
                  <a:srgbClr val="05244B"/>
                </a:solidFill>
                <a:latin typeface="Arial"/>
                <a:ea typeface="Arial"/>
                <a:cs typeface="Arial"/>
              </a:defRPr>
            </a:pPr>
            <a:r>
              <a:rPr sz="2325" b="1">
                <a:solidFill>
                  <a:srgbClr val="05244B"/>
                </a:solidFill>
                <a:latin typeface="Arial"/>
                <a:ea typeface="Arial"/>
                <a:cs typeface="Arial"/>
              </a:rPr>
              <a:t>A plan you can keep adjusting</a:t>
            </a:r>
          </a:p>
        </p:txBody>
      </p:sp>
      <p:sp>
        <p:nvSpPr>
          <p:cNvPr id="12" name="See remaining budgets before deciding on the next purchase.">
            <a:extLst xmlns:a="http://schemas.openxmlformats.org/drawingml/2006/main">
              <a:ext uri="{FF2B5EF4-FFF2-40B4-BE49-F238E27FC236}">
                <a16:creationId xmlns:a16="http://schemas.microsoft.com/office/drawing/2014/main" id="{20BA2D2F-DA73-4068-8BA9-4686979FCF46}"/>
              </a:ext>
            </a:extLst>
          </p:cNvPr>
          <p:cNvSpPr>
            <a:spLocks xmlns:a="http://schemas.openxmlformats.org/drawingml/2006/main" noGrp="1"/>
          </p:cNvSpPr>
          <p:nvPr/>
        </p:nvSpPr>
        <p:spPr>
          <a:xfrm xmlns:a="http://schemas.openxmlformats.org/drawingml/2006/main">
            <a:off x="1609725" y="51720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Edit an entry, change a budget, and review the month.</a:t>
            </a:r>
          </a:p>
        </p:txBody>
      </p:sp>
      <p:sp>
        <p:nvSpPr>
          <p:cNvPr id="13" name="For people who want to actively track and review their spending.">
            <a:extLst xmlns:a="http://schemas.openxmlformats.org/drawingml/2006/main">
              <a:ext uri="{FF2B5EF4-FFF2-40B4-BE49-F238E27FC236}">
                <a16:creationId xmlns:a16="http://schemas.microsoft.com/office/drawing/2014/main" id="{8D4ADF00-994C-4ED2-BF8B-72331ED18F54}"/>
              </a:ext>
            </a:extLst>
          </p:cNvPr>
          <p:cNvSpPr>
            <a:spLocks xmlns:a="http://schemas.openxmlformats.org/drawingml/2006/main" noGrp="1"/>
          </p:cNvSpPr>
          <p:nvPr/>
        </p:nvSpPr>
        <p:spPr>
          <a:xfrm xmlns:a="http://schemas.openxmlformats.org/drawingml/2006/main">
            <a:off x="723900" y="59055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008B7B"/>
                </a:solidFill>
                <a:latin typeface="Arial"/>
                <a:ea typeface="Arial"/>
                <a:cs typeface="Arial"/>
              </a:defRPr>
            </a:defPPr>
          </a:lstStyle>
          <a:p xmlns:a="http://schemas.openxmlformats.org/drawingml/2006/main">
            <a:pPr>
              <a:buNone/>
              <a:defRPr sz="1800" b="0">
                <a:solidFill>
                  <a:srgbClr val="008B7B"/>
                </a:solidFill>
                <a:latin typeface="Arial"/>
                <a:ea typeface="Arial"/>
                <a:cs typeface="Arial"/>
              </a:defRPr>
            </a:pPr>
            <a:r>
              <a:rPr sz="1800" b="0">
                <a:solidFill>
                  <a:srgbClr val="008B7B"/>
                </a:solidFill>
                <a:latin typeface="Arial"/>
                <a:ea typeface="Arial"/>
                <a:cs typeface="Arial"/>
              </a:rPr>
              <a:t>A small habit today can make next month easier to understand.</a:t>
            </a:r>
          </a:p>
        </p:txBody>
      </p:sp>
      <p:sp>
        <p:nvSpPr>
          <p:cNvPr id="14" name="">
            <a:extLst xmlns:a="http://schemas.openxmlformats.org/drawingml/2006/main">
              <a:ext uri="{FF2B5EF4-FFF2-40B4-BE49-F238E27FC236}">
                <a16:creationId xmlns:a16="http://schemas.microsoft.com/office/drawing/2014/main" id="{EE237EAA-7404-407A-A67D-F9C5AE3969A1}"/>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5" name="09">
            <a:extLst xmlns:a="http://schemas.openxmlformats.org/drawingml/2006/main">
              <a:ext uri="{FF2B5EF4-FFF2-40B4-BE49-F238E27FC236}">
                <a16:creationId xmlns:a16="http://schemas.microsoft.com/office/drawing/2014/main" id="{AA4DF3D8-F3BC-42F6-86D3-A96EF41125A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10</a:t>
            </a:r>
          </a:p>
        </p:txBody>
      </p:sp>
    </p:spTree>
    <p:extLst>
      <p:ext uri="{BB962C8B-B14F-4D97-AF65-F5344CB8AC3E}">
        <p14:creationId xmlns:p14="http://schemas.microsoft.com/office/powerpoint/2010/main" val="2071356823"/>
      </p:ext>
    </p:extLst>
  </p:cSld>
  <p:transition spd="fast" advClick="1">
    <p:fade/>
  </p:transition>
</p:sld>
</file>

<file path=ppt/slides/slide1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832454D-7D6C-4745-B49C-63DC24FD5DFB}"/>
              </a:ext>
            </a:extLst>
          </p:cNvPr>
          <p:cNvPicPr>
            <a:picLocks xmlns:a="http://schemas.openxmlformats.org/drawingml/2006/main" noChangeAspect="1"/>
          </p:cNvPicPr>
          <p:nvPr/>
        </p:nvPicPr>
        <p:blipFill>
          <a:blip xmlns:r="http://schemas.openxmlformats.org/officeDocument/2006/relationships" xmlns:a="http://schemas.openxmlformats.org/drawingml/2006/main" r:embed="R146cceba1d4b4ae9"/>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CB60D86-DCE3-40CE-9B5E-549A057022BC}"/>
              </a:ext>
            </a:extLst>
          </p:cNvPr>
          <p:cNvPicPr>
            <a:picLocks xmlns:a="http://schemas.openxmlformats.org/drawingml/2006/main" noChangeAspect="1"/>
          </p:cNvPicPr>
          <p:nvPr/>
        </p:nvPicPr>
        <p:blipFill>
          <a:blip xmlns:r="http://schemas.openxmlformats.org/officeDocument/2006/relationships" xmlns:a="http://schemas.openxmlformats.org/drawingml/2006/main" r:embed="R771d48f7912c441a"/>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FC17DE41-12D9-4804-83F3-0F23FAA9A9D2}"/>
              </a:ext>
            </a:extLst>
          </p:cNvPr>
          <p:cNvSpPr>
            <a:spLocks xmlns:a="http://schemas.openxmlformats.org/drawingml/2006/main" noGrp="1"/>
          </p:cNvSpPr>
          <p:nvPr/>
        </p:nvSpPr>
        <p:spPr>
          <a:xfrm xmlns:a="http://schemas.openxmlformats.org/drawingml/2006/main">
            <a:off x="685800" y="1771650"/>
            <a:ext cx="10629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75" b="1">
                <a:solidFill>
                  <a:srgbClr val="05244B"/>
                </a:solidFill>
                <a:latin typeface="Arial"/>
                <a:ea typeface="Arial"/>
                <a:cs typeface="Arial"/>
              </a:defRPr>
            </a:defPPr>
          </a:lstStyle>
          <a:p xmlns:a="http://schemas.openxmlformats.org/drawingml/2006/main">
            <a:pPr>
              <a:buNone/>
              <a:defRPr sz="5475" b="1">
                <a:solidFill>
                  <a:srgbClr val="05244B"/>
                </a:solidFill>
                <a:latin typeface="Arial"/>
                <a:ea typeface="Arial"/>
                <a:cs typeface="Arial"/>
              </a:defRPr>
            </a:pPr>
            <a:r>
              <a:rPr sz="5475" b="1">
                <a:solidFill>
                  <a:srgbClr val="05244B"/>
                </a:solidFill>
                <a:latin typeface="Arial"/>
                <a:ea typeface="Arial"/>
                <a:cs typeface="Arial"/>
              </a:rPr>
              <a:t>Your money called.</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CA8B7103-EC8D-4481-BCA7-B320D5127D0B}"/>
              </a:ext>
            </a:extLst>
          </p:cNvPr>
          <p:cNvSpPr>
            <a:spLocks xmlns:a="http://schemas.openxmlformats.org/drawingml/2006/main" noGrp="1"/>
          </p:cNvSpPr>
          <p:nvPr/>
        </p:nvSpPr>
        <p:spPr>
          <a:xfrm xmlns:a="http://schemas.openxmlformats.org/drawingml/2006/main">
            <a:off x="723900" y="2800350"/>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050" b="0">
                <a:solidFill>
                  <a:srgbClr val="607589"/>
                </a:solidFill>
                <a:latin typeface="Arial"/>
                <a:ea typeface="Arial"/>
                <a:cs typeface="Arial"/>
              </a:defRPr>
            </a:defPPr>
          </a:lstStyle>
          <a:p xmlns:a="http://schemas.openxmlformats.org/drawingml/2006/main">
            <a:pPr>
              <a:buNone/>
              <a:defRPr sz="4050" b="0">
                <a:solidFill>
                  <a:srgbClr val="607589"/>
                </a:solidFill>
                <a:latin typeface="Arial"/>
                <a:ea typeface="Arial"/>
                <a:cs typeface="Arial"/>
              </a:defRPr>
            </a:pPr>
            <a:r>
              <a:rPr sz="4050" b="0">
                <a:solidFill>
                  <a:srgbClr val="607589"/>
                </a:solidFill>
                <a:latin typeface="Arial"/>
                <a:ea typeface="Arial"/>
                <a:cs typeface="Arial"/>
              </a:rPr>
              <a:t>It wants a game plan.</a:t>
            </a:r>
          </a:p>
        </p:txBody>
      </p:sp>
      <p:sp>
        <p:nvSpPr>
          <p:cNvPr id="5" name="Live demo &amp; questions">
            <a:extLst xmlns:a="http://schemas.openxmlformats.org/drawingml/2006/main">
              <a:ext uri="{FF2B5EF4-FFF2-40B4-BE49-F238E27FC236}">
                <a16:creationId xmlns:a16="http://schemas.microsoft.com/office/drawing/2014/main" id="{921FAE4B-0D13-4504-A9DE-33258E480D37}"/>
              </a:ext>
            </a:extLst>
          </p:cNvPr>
          <p:cNvSpPr>
            <a:spLocks xmlns:a="http://schemas.openxmlformats.org/drawingml/2006/main" noGrp="1"/>
          </p:cNvSpPr>
          <p:nvPr/>
        </p:nvSpPr>
        <p:spPr>
          <a:xfrm xmlns:a="http://schemas.openxmlformats.org/drawingml/2006/main">
            <a:off x="685800" y="3952875"/>
            <a:ext cx="10706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75" b="1">
                <a:solidFill>
                  <a:srgbClr val="008B7B"/>
                </a:solidFill>
                <a:latin typeface="Arial"/>
                <a:ea typeface="Arial"/>
                <a:cs typeface="Arial"/>
              </a:defRPr>
            </a:defPPr>
          </a:lstStyle>
          <a:p xmlns:a="http://schemas.openxmlformats.org/drawingml/2006/main">
            <a:pPr>
              <a:buNone/>
              <a:defRPr sz="5475" b="1">
                <a:solidFill>
                  <a:srgbClr val="008B7B"/>
                </a:solidFill>
                <a:latin typeface="Arial"/>
                <a:ea typeface="Arial"/>
                <a:cs typeface="Arial"/>
              </a:defRPr>
            </a:pPr>
            <a:r>
              <a:rPr sz="5475" b="1">
                <a:solidFill>
                  <a:srgbClr val="008B7B"/>
                </a:solidFill>
                <a:latin typeface="Arial"/>
                <a:ea typeface="Arial"/>
                <a:cs typeface="Arial"/>
              </a:rPr>
              <a:t>Ready to give it one?</a:t>
            </a:r>
          </a:p>
        </p:txBody>
      </p:sp>
      <p:sp>
        <p:nvSpPr>
          <p:cNvPr id="6" name="Team 4">
            <a:extLst xmlns:a="http://schemas.openxmlformats.org/drawingml/2006/main">
              <a:ext uri="{FF2B5EF4-FFF2-40B4-BE49-F238E27FC236}">
                <a16:creationId xmlns:a16="http://schemas.microsoft.com/office/drawing/2014/main" id="{8E9F9D69-147E-43B6-9ADF-B4D05A2C084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4F96EF31-02D1-401E-B25D-55A37F2D9017}"/>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11</a:t>
            </a:r>
          </a:p>
        </p:txBody>
      </p:sp>
      <p:sp>
        <p:nvSpPr>
          <p:cNvPr id="9" name="Try Finora. Start with your next expense.">
            <a:extLst xmlns:a="http://schemas.openxmlformats.org/drawingml/2006/main">
              <a:ext uri="{FF2B5EF4-FFF2-40B4-BE49-F238E27FC236}">
                <a16:creationId xmlns:a16="http://schemas.microsoft.com/office/drawing/2014/main" id="{8BFBAF01-BB09-417A-8186-467D5B7799C3}"/>
              </a:ext>
            </a:extLst>
          </p:cNvPr>
          <p:cNvSpPr>
            <a:spLocks xmlns:a="http://schemas.openxmlformats.org/drawingml/2006/main" noGrp="1"/>
          </p:cNvSpPr>
          <p:nvPr/>
        </p:nvSpPr>
        <p:spPr>
          <a:xfrm xmlns:a="http://schemas.openxmlformats.org/drawingml/2006/main">
            <a:off x="723900" y="53625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5244B"/>
                </a:solidFill>
                <a:latin typeface="Arial"/>
                <a:ea typeface="Arial"/>
                <a:cs typeface="Arial"/>
              </a:defRPr>
            </a:defPPr>
          </a:lstStyle>
          <a:p xmlns:a="http://schemas.openxmlformats.org/drawingml/2006/main">
            <a:pPr>
              <a:defRPr sz="2400" b="1">
                <a:solidFill>
                  <a:srgbClr val="05244B"/>
                </a:solidFill>
                <a:latin typeface="Arial"/>
                <a:ea typeface="Arial"/>
                <a:cs typeface="Arial"/>
              </a:defRPr>
            </a:pPr>
            <a:r>
              <a:rPr sz="2400" b="1">
                <a:solidFill>
                  <a:srgbClr val="05244B"/>
                </a:solidFill>
                <a:latin typeface="Arial"/>
                <a:ea typeface="Arial"/>
                <a:cs typeface="Arial"/>
              </a:rPr>
              <a:t>Try Finora. Start with your next expense.</a:t>
            </a:r>
          </a:p>
        </p:txBody>
      </p:sp>
      <p:sp>
        <p:nvSpPr>
          <p:cNvPr id="10" name="Ask our team to try the demo">
            <a:extLst xmlns:a="http://schemas.openxmlformats.org/drawingml/2006/main">
              <a:ext uri="{FF2B5EF4-FFF2-40B4-BE49-F238E27FC236}">
                <a16:creationId xmlns:a16="http://schemas.microsoft.com/office/drawing/2014/main" id="{6569724F-FE88-47AF-9589-B10266F63E61}"/>
              </a:ext>
            </a:extLst>
          </p:cNvPr>
          <p:cNvSpPr>
            <a:spLocks xmlns:a="http://schemas.openxmlformats.org/drawingml/2006/main" noGrp="1"/>
          </p:cNvSpPr>
          <p:nvPr/>
        </p:nvSpPr>
        <p:spPr>
          <a:xfrm xmlns:a="http://schemas.openxmlformats.org/drawingml/2006/main">
            <a:off x="723900" y="58769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Ask our team to try the demo</a:t>
            </a:r>
          </a:p>
        </p:txBody>
      </p:sp>
    </p:spTree>
    <p:extLst>
      <p:ext uri="{BB962C8B-B14F-4D97-AF65-F5344CB8AC3E}">
        <p14:creationId xmlns:p14="http://schemas.microsoft.com/office/powerpoint/2010/main" val="1299882057"/>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2026-10-11T23:54:20.4730000Z</dcterms:created>
  <dcterms:modified xsi:type="dcterms:W3CDTF">2026-10-11T23:54:20.4730000Z</dcterms:modified>
</coreProperties>
</file>