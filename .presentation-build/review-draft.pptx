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c91fdbf2d6477e" /><Relationship Type="http://schemas.openxmlformats.org/officeDocument/2006/relationships/extended-properties" Target="/docProps/app.xml" Id="R234db3059729400b" /><Relationship Type="http://schemas.openxmlformats.org/officeDocument/2006/relationships/officeDocument" Target="/ppt/presentation.xml" Id="Rc27b37765e344f8c" /></Relationships>
</file>

<file path=ppt/presentation.xml><?xml version="1.0" encoding="utf-8"?>
<p:presentation xmlns:p="http://schemas.openxmlformats.org/presentationml/2006/main">
  <p:sldMasterIdLst>
    <p:sldMasterId xmlns:r="http://schemas.openxmlformats.org/officeDocument/2006/relationships" id="2147483648" r:id="R6a588f17fb664f50"/>
  </p:sldMasterIdLst>
  <p:notesMasterIdLst>
    <p:notesMasterId xmlns:r="http://schemas.openxmlformats.org/officeDocument/2006/relationships" r:id="R9a34b2b31ea3443d"/>
  </p:notesMasterIdLst>
  <p:sldIdLst>
    <p:sldId xmlns:r="http://schemas.openxmlformats.org/officeDocument/2006/relationships" id="256" r:id="R391ecaccfa194999"/>
    <p:sldId xmlns:r="http://schemas.openxmlformats.org/officeDocument/2006/relationships" id="257" r:id="Rcbb394c99f65431b"/>
    <p:sldId xmlns:r="http://schemas.openxmlformats.org/officeDocument/2006/relationships" id="258" r:id="R37f9e662e9344471"/>
    <p:sldId xmlns:r="http://schemas.openxmlformats.org/officeDocument/2006/relationships" id="259" r:id="Racfd04e928234392"/>
    <p:sldId xmlns:r="http://schemas.openxmlformats.org/officeDocument/2006/relationships" id="260" r:id="R0066d7396cf945e1"/>
    <p:sldId xmlns:r="http://schemas.openxmlformats.org/officeDocument/2006/relationships" id="261" r:id="R9957151112204059"/>
    <p:sldId xmlns:r="http://schemas.openxmlformats.org/officeDocument/2006/relationships" id="262" r:id="Rd84355a21f0442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d13c308cb94d9e" /><Relationship Type="http://schemas.openxmlformats.org/officeDocument/2006/relationships/slideMaster" Target="/ppt/slideMasters/slideMaster1.xml" Id="R6a588f17fb664f50" /><Relationship Type="http://schemas.openxmlformats.org/officeDocument/2006/relationships/notesMaster" Target="/ppt/notesMasters/notesMaster1.xml" Id="R9a34b2b31ea3443d" /><Relationship Type="http://schemas.openxmlformats.org/officeDocument/2006/relationships/presProps" Target="/ppt/presProps.xml" Id="Rec4ef26a5ea7425e" /><Relationship Type="http://schemas.openxmlformats.org/officeDocument/2006/relationships/tableStyles" Target="/ppt/tableStyles.xml" Id="R1b187bfe024c4a99" /><Relationship Type="http://schemas.openxmlformats.org/officeDocument/2006/relationships/slide" Target="/ppt/slides/slide1.xml" Id="R391ecaccfa194999" /><Relationship Type="http://schemas.openxmlformats.org/officeDocument/2006/relationships/slide" Target="/ppt/slides/slide2.xml" Id="Rcbb394c99f65431b" /><Relationship Type="http://schemas.openxmlformats.org/officeDocument/2006/relationships/slide" Target="/ppt/slides/slide3.xml" Id="R37f9e662e9344471" /><Relationship Type="http://schemas.openxmlformats.org/officeDocument/2006/relationships/slide" Target="/ppt/slides/slide4.xml" Id="Racfd04e928234392" /><Relationship Type="http://schemas.openxmlformats.org/officeDocument/2006/relationships/slide" Target="/ppt/slides/slide5.xml" Id="R0066d7396cf945e1" /><Relationship Type="http://schemas.openxmlformats.org/officeDocument/2006/relationships/slide" Target="/ppt/slides/slide6.xml" Id="R9957151112204059" /><Relationship Type="http://schemas.openxmlformats.org/officeDocument/2006/relationships/slide" Target="/ppt/slides/slide7.xml" Id="Rd84355a21f0442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51066acfc143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b8ac0971e4fff" /><Relationship Type="http://schemas.openxmlformats.org/officeDocument/2006/relationships/notesMaster" Target="/ppt/notesMasters/notesMaster1.xml" Id="R0aa3a4cbe7384a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a8f42b6af34808" /><Relationship Type="http://schemas.openxmlformats.org/officeDocument/2006/relationships/notesMaster" Target="/ppt/notesMasters/notesMaster1.xml" Id="R617d11420ba443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a92148533b4b09" /><Relationship Type="http://schemas.openxmlformats.org/officeDocument/2006/relationships/notesMaster" Target="/ppt/notesMasters/notesMaster1.xml" Id="Rfc815032888e47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b14f5ab51848ee" /><Relationship Type="http://schemas.openxmlformats.org/officeDocument/2006/relationships/notesMaster" Target="/ppt/notesMasters/notesMaster1.xml" Id="R13ace7adbba448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9e7d4281b740a7" /><Relationship Type="http://schemas.openxmlformats.org/officeDocument/2006/relationships/notesMaster" Target="/ppt/notesMasters/notesMaster1.xml" Id="Rb08af9da15e64d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8b815dfa94466" /><Relationship Type="http://schemas.openxmlformats.org/officeDocument/2006/relationships/notesMaster" Target="/ppt/notesMasters/notesMaster1.xml" Id="Rdd002822b28940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275ce0ecdc45f2" /><Relationship Type="http://schemas.openxmlformats.org/officeDocument/2006/relationships/notesMaster" Target="/ppt/notesMasters/notesMaster1.xml" Id="R0ddcbd021fa847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Finora is our personal finance project. It helps people understand the money they earn, the money they spend, and what remains at the end of the month. Today we will show the experience through a simple example.</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Presentation references: https://www.monarch.com/ and https://www.ynab.com/ (accessed 12 October 2026). These informed the plain-language, benefit-first product narrative. No competitor statistics or features are attributed to Finora.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Think about payday. Money arrives, then rent, groceries and smaller purchases follow. Looking only at a balance does not tell us which categories used the money or whether we are close to a limit. This is the everyday problem our project addresses. These are problem scenarios, not research statistics.</a:t>
            </a:r>
          </a:p>
          <a:p xmlns:a="http://schemas.openxmlformats.org/drawingml/2006/main">
            <a:r>
              <a:t>Source: README.md project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Here is the starting point in the Finora template. Income is 5,250 dollars, expenses are 2,864 dollars, and the difference is 2,386 dollars. Finora calls that monthly savings. This is a calculated difference in recorded transactions, not a claim about a separate bank savings account.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Implementation status: finora/client/README.md says the integrated Dashboard page is currently a placeholder. This slide presents the intended experience from the working frontend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A user adds an income or expense entry with an amount, date and category. The transaction list keeps those entries together, and the filters help find a particular month or kind of spending. Users can edit mistakes or remove an entry. For a live demonstration, add a small food expense and then filter to Food.</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finora/client/README.md documents connected transaction filters and create, edit and delete dialogs.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Users choose a monthly budget for a category. Finora compares recorded spending with that limit. In the template, under 80 percent is on track, 80 to 100 percent is near the limit, and more than 100 percent is exceeded. Here entertainment spending is 225 dollars against a 200-dollar limit, so the warning explains that it is 25 dollars over. This gives a concrete reason to review the next purchase.</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budgets and their status displays are connected in the main app. The alert panel shown here comes from the prototype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The monthly report puts the spending categories in context. In this sample month, housing is the largest category at 1,400 dollars, or 48.9 percent of total spending. That is a description of the example, not advice to change a particular expense. The template also offers Excel export so users can keep a copy of the report.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monthly report summary, category breakdown and read-only budgets are connected in the main app. Do not promise template-only features as production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then demo or questions.</a:t>
            </a:r>
          </a:p>
          <a:p xmlns:a="http://schemas.openxmlformats.org/drawingml/2006/main">
            <a:r>
              <a:t>Our goal is to make everyday finances easier to understand. The short demo follows one expense: add it to Transactions, check its category budget, then open the Monthly Report.</a:t>
            </a:r>
          </a:p>
          <a:p xmlns:a="http://schemas.openxmlformats.org/drawingml/2006/main">
            <a:r>
              <a:t>If asked about readiness: the repository documents connected transactions, budgets and monthly reports with a NestJS backend. Dashboard and Income pages are still in progress. The backend keeps changes through browser refreshes but resets when the server restarts. The standalone template resets on browser reload and has no bank connection or authentication.</a:t>
            </a:r>
          </a:p>
          <a:p xmlns:a="http://schemas.openxmlformats.org/drawingml/2006/main">
            <a:r>
              <a:t>Sources: finora/client/README.md, api/README.md and finora-template/README.md.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cbb249019441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2f211b21ec43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f5f19af73b4f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5dc32c2e8b46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2a47c2a4e646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c7ce2a8ccc42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DB36E3-B9AA-4FEA-A9E9-5E14C480C9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2CF7BF-5B81-4B35-9B58-007865524D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6C6DB7-E61E-48DA-B390-8C5127448C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A65F11-6C8D-430D-AC26-B829C2DF0B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6604EE-8858-4191-B168-77ECF63C50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68B64E-2B83-4EF7-B475-2AE5BEE5B3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880C33-3161-46F0-BB03-156D93471F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C9FBE1-FB45-4A5A-8CA8-9531990AA6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FEF976-907A-4D91-8C34-5B0BDA6C42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057AA0-74B1-4F35-ADC7-E47D3533F3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02c5db5ab146e8" /><Relationship Type="http://schemas.openxmlformats.org/officeDocument/2006/relationships/slideLayout" Target="/ppt/slideLayouts/slideLayout1.xml" Id="R01b54786323c4ad2" /><Relationship Type="http://schemas.openxmlformats.org/officeDocument/2006/relationships/slideLayout" Target="/ppt/slideLayouts/slideLayout2.xml" Id="R93d1a486c6694f3c" /><Relationship Type="http://schemas.openxmlformats.org/officeDocument/2006/relationships/slideLayout" Target="/ppt/slideLayouts/slideLayout3.xml" Id="Rfd11185f86a04e9c" /><Relationship Type="http://schemas.openxmlformats.org/officeDocument/2006/relationships/slideLayout" Target="/ppt/slideLayouts/slideLayout4.xml" Id="R4a68de52016646fb" /><Relationship Type="http://schemas.openxmlformats.org/officeDocument/2006/relationships/slideLayout" Target="/ppt/slideLayouts/slideLayout5.xml" Id="R6d0ff249e2b04298" /><Relationship Type="http://schemas.openxmlformats.org/officeDocument/2006/relationships/slideLayout" Target="/ppt/slideLayouts/slideLayout6.xml" Id="Rfee855b90c024f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b54786323c4ad2"/>
    <p:sldLayoutId xmlns:r="http://schemas.openxmlformats.org/officeDocument/2006/relationships" id="2147483650" r:id="R93d1a486c6694f3c"/>
    <p:sldLayoutId xmlns:r="http://schemas.openxmlformats.org/officeDocument/2006/relationships" id="2147483651" r:id="Rfd11185f86a04e9c"/>
    <p:sldLayoutId xmlns:r="http://schemas.openxmlformats.org/officeDocument/2006/relationships" id="2147483652" r:id="R4a68de52016646fb"/>
    <p:sldLayoutId xmlns:r="http://schemas.openxmlformats.org/officeDocument/2006/relationships" id="2147483653" r:id="R6d0ff249e2b04298"/>
    <p:sldLayoutId xmlns:r="http://schemas.openxmlformats.org/officeDocument/2006/relationships" id="2147483654" r:id="Rfee855b90c024f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f98b04edd048e5" /><Relationship Type="http://schemas.openxmlformats.org/officeDocument/2006/relationships/image" Target="/ppt/media/image.png" Id="Rfb77e52c4acf4906" /><Relationship Type="http://schemas.openxmlformats.org/officeDocument/2006/relationships/image" Target="/ppt/media/image2.png" Id="R8928463f36dd4e57" /><Relationship Type="http://schemas.openxmlformats.org/officeDocument/2006/relationships/image" Target="/ppt/media/image3.png" Id="Rc90286edbbd84621" /><Relationship Type="http://schemas.openxmlformats.org/officeDocument/2006/relationships/notesSlide" Target="/ppt/notesSlides/notesSlide1.xml" Id="Rb34e25baa2ae44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1dbcd712e843bf" /><Relationship Type="http://schemas.openxmlformats.org/officeDocument/2006/relationships/notesSlide" Target="/ppt/notesSlides/notesSlide2.xml" Id="R1e402a48b76343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81174d46ec4043" /><Relationship Type="http://schemas.openxmlformats.org/officeDocument/2006/relationships/image" Target="/ppt/media/image4.png" Id="Rc62bbbc7a1d84eb7" /><Relationship Type="http://schemas.openxmlformats.org/officeDocument/2006/relationships/image" Target="/ppt/media/image5.png" Id="Rc23983ab160541fb" /><Relationship Type="http://schemas.openxmlformats.org/officeDocument/2006/relationships/image" Target="/ppt/media/image6.png" Id="R49434bdd6db14efb" /><Relationship Type="http://schemas.openxmlformats.org/officeDocument/2006/relationships/notesSlide" Target="/ppt/notesSlides/notesSlide3.xml" Id="R69564033c4bf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a4a6ecc574c4d45" /><Relationship Type="http://schemas.openxmlformats.org/officeDocument/2006/relationships/image" Target="/ppt/media/image7.png" Id="R70150aec9d5a4cf8" /><Relationship Type="http://schemas.openxmlformats.org/officeDocument/2006/relationships/image" Target="/ppt/media/image8.png" Id="Rae30dbb7ded142ce" /><Relationship Type="http://schemas.openxmlformats.org/officeDocument/2006/relationships/image" Target="/ppt/media/image9.png" Id="R9047a52afce74258" /><Relationship Type="http://schemas.openxmlformats.org/officeDocument/2006/relationships/notesSlide" Target="/ppt/notesSlides/notesSlide4.xml" Id="Rad6de0d06fd54f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d67aab95f24da2" /><Relationship Type="http://schemas.openxmlformats.org/officeDocument/2006/relationships/image" Target="/ppt/media/image10.png" Id="Re198d93eb18b406f" /><Relationship Type="http://schemas.openxmlformats.org/officeDocument/2006/relationships/image" Target="/ppt/media/image11.png" Id="R080710af102544f2" /><Relationship Type="http://schemas.openxmlformats.org/officeDocument/2006/relationships/image" Target="/ppt/media/image12.png" Id="Rf8c0f8b29a7d4e0a" /><Relationship Type="http://schemas.openxmlformats.org/officeDocument/2006/relationships/notesSlide" Target="/ppt/notesSlides/notesSlide5.xml" Id="R286e5632ab9c45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51bb9dd9a24acf" /><Relationship Type="http://schemas.openxmlformats.org/officeDocument/2006/relationships/image" Target="/ppt/media/image13.png" Id="R1af066b5484d4352" /><Relationship Type="http://schemas.openxmlformats.org/officeDocument/2006/relationships/image" Target="/ppt/media/image14.png" Id="R53145c93e6184768" /><Relationship Type="http://schemas.openxmlformats.org/officeDocument/2006/relationships/image" Target="/ppt/media/image15.png" Id="Rd7c60246dda746f5" /><Relationship Type="http://schemas.openxmlformats.org/officeDocument/2006/relationships/notesSlide" Target="/ppt/notesSlides/notesSlide6.xml" Id="R0aacdca6d6c342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944faebe704575" /><Relationship Type="http://schemas.openxmlformats.org/officeDocument/2006/relationships/image" Target="/ppt/media/image16.png" Id="Rdf9d4c685a674f0e" /><Relationship Type="http://schemas.openxmlformats.org/officeDocument/2006/relationships/image" Target="/ppt/media/image17.png" Id="R7fabea14861c4c9e" /><Relationship Type="http://schemas.openxmlformats.org/officeDocument/2006/relationships/notesSlide" Target="/ppt/notesSlides/notesSlide7.xml" Id="R260ad11df3bd49fe"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BCE9561-695D-4A5F-BF2E-1EEF3B8DF8BC}"/>
              </a:ext>
            </a:extLst>
          </p:cNvPr>
          <p:cNvPicPr>
            <a:picLocks xmlns:a="http://schemas.openxmlformats.org/drawingml/2006/main" noChangeAspect="1"/>
          </p:cNvPicPr>
          <p:nvPr/>
        </p:nvPicPr>
        <p:blipFill>
          <a:blip xmlns:r="http://schemas.openxmlformats.org/officeDocument/2006/relationships" xmlns:a="http://schemas.openxmlformats.org/drawingml/2006/main" r:embed="Rfb77e52c4acf4906"/>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47FC516-699A-47A1-B36E-3889BAC6330A}"/>
              </a:ext>
            </a:extLst>
          </p:cNvPr>
          <p:cNvPicPr>
            <a:picLocks xmlns:a="http://schemas.openxmlformats.org/drawingml/2006/main" noChangeAspect="1"/>
          </p:cNvPicPr>
          <p:nvPr/>
        </p:nvPicPr>
        <p:blipFill>
          <a:blip xmlns:r="http://schemas.openxmlformats.org/officeDocument/2006/relationships" xmlns:a="http://schemas.openxmlformats.org/drawingml/2006/main" r:embed="R8928463f36dd4e57"/>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955E1EBE-159F-45FE-A6EA-46EA73FB5C86}"/>
              </a:ext>
            </a:extLst>
          </p:cNvPr>
          <p:cNvSpPr>
            <a:spLocks xmlns:a="http://schemas.openxmlformats.org/drawingml/2006/main" noGrp="1"/>
          </p:cNvSpPr>
          <p:nvPr/>
        </p:nvSpPr>
        <p:spPr>
          <a:xfrm xmlns:a="http://schemas.openxmlformats.org/drawingml/2006/main">
            <a:off x="685800" y="2095500"/>
            <a:ext cx="7620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150" b="1">
                <a:solidFill>
                  <a:srgbClr val="05244B"/>
                </a:solidFill>
                <a:latin typeface="Arial"/>
                <a:ea typeface="Arial"/>
                <a:cs typeface="Arial"/>
              </a:defRPr>
            </a:defPPr>
          </a:lstStyle>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Your money,</a:t>
            </a:r>
          </a:p>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clearly.</a:t>
            </a:r>
          </a:p>
        </p:txBody>
      </p:sp>
      <p:sp>
        <p:nvSpPr>
          <p:cNvPr id="4" name="Personal finance for everyday life">
            <a:extLst xmlns:a="http://schemas.openxmlformats.org/drawingml/2006/main">
              <a:ext uri="{FF2B5EF4-FFF2-40B4-BE49-F238E27FC236}">
                <a16:creationId xmlns:a16="http://schemas.microsoft.com/office/drawing/2014/main" id="{63AAEE24-05E3-43D8-91CF-875C288666B5}"/>
              </a:ext>
            </a:extLst>
          </p:cNvPr>
          <p:cNvSpPr>
            <a:spLocks xmlns:a="http://schemas.openxmlformats.org/drawingml/2006/main" noGrp="1"/>
          </p:cNvSpPr>
          <p:nvPr/>
        </p:nvSpPr>
        <p:spPr>
          <a:xfrm xmlns:a="http://schemas.openxmlformats.org/drawingml/2006/main">
            <a:off x="723900" y="44196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defRPr sz="2175" b="0">
                <a:solidFill>
                  <a:srgbClr val="607589"/>
                </a:solidFill>
                <a:latin typeface="Arial"/>
                <a:ea typeface="Arial"/>
                <a:cs typeface="Arial"/>
              </a:defRPr>
            </a:pPr>
            <a:r>
              <a:rPr sz="2175" b="0">
                <a:solidFill>
                  <a:srgbClr val="607589"/>
                </a:solidFill>
                <a:latin typeface="Arial"/>
                <a:ea typeface="Arial"/>
                <a:cs typeface="Arial"/>
              </a:rPr>
              <a:t>Personal finance for everyday life</a:t>
            </a:r>
          </a:p>
        </p:txBody>
      </p:sp>
      <p:pic>
        <p:nvPicPr>
          <p:cNvPr id="5" name="">
            <a:extLst xmlns:a="http://schemas.openxmlformats.org/drawingml/2006/main">
              <a:ext uri="{FF2B5EF4-FFF2-40B4-BE49-F238E27FC236}">
                <a16:creationId xmlns:a16="http://schemas.microsoft.com/office/drawing/2014/main" id="{AEF4DD3E-F9DF-4155-A370-F2E287E5DC5D}"/>
              </a:ext>
            </a:extLst>
          </p:cNvPr>
          <p:cNvPicPr>
            <a:picLocks xmlns:a="http://schemas.openxmlformats.org/drawingml/2006/main" noChangeAspect="1"/>
          </p:cNvPicPr>
          <p:nvPr/>
        </p:nvPicPr>
        <p:blipFill>
          <a:blip xmlns:r="http://schemas.openxmlformats.org/officeDocument/2006/relationships" xmlns:a="http://schemas.openxmlformats.org/drawingml/2006/main" r:embed="Rc90286edbbd84621"/>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0F36EBCA-1D1E-43BB-92A2-78EA8221672D}"/>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F8CA9FA4-9944-4304-8679-7CCB51819BBF}"/>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23445887"/>
      </p:ext>
    </p:extLst>
  </p:cSld>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30322EE5-6F70-4318-9B7E-67EDF566E23A}"/>
              </a:ext>
            </a:extLst>
          </p:cNvPr>
          <p:cNvSpPr>
            <a:spLocks xmlns:a="http://schemas.openxmlformats.org/drawingml/2006/main" noGrp="1"/>
          </p:cNvSpPr>
          <p:nvPr/>
        </p:nvSpPr>
        <p:spPr>
          <a:xfrm xmlns:a="http://schemas.openxmlformats.org/drawingml/2006/main">
            <a:off x="685800" y="1628775"/>
            <a:ext cx="74771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550" b="1">
                <a:solidFill>
                  <a:srgbClr val="FFFFFF"/>
                </a:solidFill>
                <a:latin typeface="Arial"/>
                <a:ea typeface="Arial"/>
                <a:cs typeface="Arial"/>
              </a:defRPr>
            </a:def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Where did my</a:t>
            </a:r>
          </a:p>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money go?</a:t>
            </a:r>
          </a:p>
        </p:txBody>
      </p:sp>
      <p:sp>
        <p:nvSpPr>
          <p:cNvPr id="2" name="A balance alone cannot explain&#10;your spending.">
            <a:extLst xmlns:a="http://schemas.openxmlformats.org/drawingml/2006/main">
              <a:ext uri="{FF2B5EF4-FFF2-40B4-BE49-F238E27FC236}">
                <a16:creationId xmlns:a16="http://schemas.microsoft.com/office/drawing/2014/main" id="{3A730771-E69C-4C06-AF3A-B536FCC99CB7}"/>
              </a:ext>
            </a:extLst>
          </p:cNvPr>
          <p:cNvSpPr>
            <a:spLocks xmlns:a="http://schemas.openxmlformats.org/drawingml/2006/main" noGrp="1"/>
          </p:cNvSpPr>
          <p:nvPr/>
        </p:nvSpPr>
        <p:spPr>
          <a:xfrm xmlns:a="http://schemas.openxmlformats.org/drawingml/2006/main">
            <a:off x="723900" y="381000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95CFC5"/>
                </a:solidFill>
                <a:latin typeface="Arial"/>
                <a:ea typeface="Arial"/>
                <a:cs typeface="Arial"/>
              </a:defRPr>
            </a:defPPr>
          </a:lstStyle>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A balance alone cannot explain</a:t>
            </a:r>
          </a:p>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your spending.</a:t>
            </a:r>
          </a:p>
        </p:txBody>
      </p:sp>
      <p:sp>
        <p:nvSpPr>
          <p:cNvPr id="3" name="Small purchases add up">
            <a:extLst xmlns:a="http://schemas.openxmlformats.org/drawingml/2006/main">
              <a:ext uri="{FF2B5EF4-FFF2-40B4-BE49-F238E27FC236}">
                <a16:creationId xmlns:a16="http://schemas.microsoft.com/office/drawing/2014/main" id="{1EDCCCB3-C370-4740-89F8-1D3892039974}"/>
              </a:ext>
            </a:extLst>
          </p:cNvPr>
          <p:cNvSpPr>
            <a:spLocks xmlns:a="http://schemas.openxmlformats.org/drawingml/2006/main" noGrp="1"/>
          </p:cNvSpPr>
          <p:nvPr/>
        </p:nvSpPr>
        <p:spPr>
          <a:xfrm xmlns:a="http://schemas.openxmlformats.org/drawingml/2006/main">
            <a:off x="8239125" y="2095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Small purchases add up</a:t>
            </a:r>
          </a:p>
        </p:txBody>
      </p:sp>
      <p:sp>
        <p:nvSpPr>
          <p:cNvPr id="4" name="Daily spending can be&#10;easy to lose track of.">
            <a:extLst xmlns:a="http://schemas.openxmlformats.org/drawingml/2006/main">
              <a:ext uri="{FF2B5EF4-FFF2-40B4-BE49-F238E27FC236}">
                <a16:creationId xmlns:a16="http://schemas.microsoft.com/office/drawing/2014/main" id="{5B535282-11EC-4752-8B2D-D153075F6963}"/>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Daily spending can be</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easy to lose track of.</a:t>
            </a:r>
          </a:p>
        </p:txBody>
      </p:sp>
      <p:sp>
        <p:nvSpPr>
          <p:cNvPr id="5" name="Limits need context">
            <a:extLst xmlns:a="http://schemas.openxmlformats.org/drawingml/2006/main">
              <a:ext uri="{FF2B5EF4-FFF2-40B4-BE49-F238E27FC236}">
                <a16:creationId xmlns:a16="http://schemas.microsoft.com/office/drawing/2014/main" id="{B3D67A91-FB0B-4EEB-8F32-A047F57B58C2}"/>
              </a:ext>
            </a:extLst>
          </p:cNvPr>
          <p:cNvSpPr>
            <a:spLocks xmlns:a="http://schemas.openxmlformats.org/drawingml/2006/main" noGrp="1"/>
          </p:cNvSpPr>
          <p:nvPr/>
        </p:nvSpPr>
        <p:spPr>
          <a:xfrm xmlns:a="http://schemas.openxmlformats.org/drawingml/2006/main">
            <a:off x="8239125" y="4114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Limits need context</a:t>
            </a:r>
          </a:p>
        </p:txBody>
      </p:sp>
      <p:sp>
        <p:nvSpPr>
          <p:cNvPr id="6" name="It helps to see what is&#10;left in each category.">
            <a:extLst xmlns:a="http://schemas.openxmlformats.org/drawingml/2006/main">
              <a:ext uri="{FF2B5EF4-FFF2-40B4-BE49-F238E27FC236}">
                <a16:creationId xmlns:a16="http://schemas.microsoft.com/office/drawing/2014/main" id="{DF0B0403-4C77-4750-A383-C4BA3ADF089F}"/>
              </a:ext>
            </a:extLst>
          </p:cNvPr>
          <p:cNvSpPr>
            <a:spLocks xmlns:a="http://schemas.openxmlformats.org/drawingml/2006/main" noGrp="1"/>
          </p:cNvSpPr>
          <p:nvPr/>
        </p:nvSpPr>
        <p:spPr>
          <a:xfrm xmlns:a="http://schemas.openxmlformats.org/drawingml/2006/main">
            <a:off x="8239125" y="46386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It helps to see what is</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left in each category.</a:t>
            </a:r>
          </a:p>
        </p:txBody>
      </p:sp>
      <p:sp>
        <p:nvSpPr>
          <p:cNvPr id="7" name="">
            <a:extLst xmlns:a="http://schemas.openxmlformats.org/drawingml/2006/main">
              <a:ext uri="{FF2B5EF4-FFF2-40B4-BE49-F238E27FC236}">
                <a16:creationId xmlns:a16="http://schemas.microsoft.com/office/drawing/2014/main" id="{997ABC50-ED50-4D0A-A617-793CEB1FCE72}"/>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5DB57710-1ED3-4D1E-97F0-1A0AA673D326}"/>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1397716666"/>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0F27ED9-0683-48E3-87B4-1A819AF244DB}"/>
              </a:ext>
            </a:extLst>
          </p:cNvPr>
          <p:cNvPicPr>
            <a:picLocks xmlns:a="http://schemas.openxmlformats.org/drawingml/2006/main" noChangeAspect="1"/>
          </p:cNvPicPr>
          <p:nvPr/>
        </p:nvPicPr>
        <p:blipFill>
          <a:blip xmlns:r="http://schemas.openxmlformats.org/officeDocument/2006/relationships" xmlns:a="http://schemas.openxmlformats.org/drawingml/2006/main" r:embed="Rc62bbbc7a1d84eb7"/>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C27AB11-C5A0-49FE-B2C8-4FFF694CB064}"/>
              </a:ext>
            </a:extLst>
          </p:cNvPr>
          <p:cNvPicPr>
            <a:picLocks xmlns:a="http://schemas.openxmlformats.org/drawingml/2006/main" noChangeAspect="1"/>
          </p:cNvPicPr>
          <p:nvPr/>
        </p:nvPicPr>
        <p:blipFill>
          <a:blip xmlns:r="http://schemas.openxmlformats.org/officeDocument/2006/relationships" xmlns:a="http://schemas.openxmlformats.org/drawingml/2006/main" r:embed="Rc23983ab160541fb"/>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B246EC7F-8E77-4374-BE64-C039D45D718C}"/>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4931C0D4-B5AD-46E3-BC9E-53EC397B1513}"/>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547E9858-0280-41CC-9CB2-324A72DC4F19}"/>
              </a:ext>
            </a:extLst>
          </p:cNvPr>
          <p:cNvPicPr>
            <a:picLocks xmlns:a="http://schemas.openxmlformats.org/drawingml/2006/main" noChangeAspect="1"/>
          </p:cNvPicPr>
          <p:nvPr/>
        </p:nvPicPr>
        <p:blipFill>
          <a:blip xmlns:r="http://schemas.openxmlformats.org/officeDocument/2006/relationships" xmlns:a="http://schemas.openxmlformats.org/drawingml/2006/main" r:embed="R49434bdd6db14efb"/>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61249FF6-6972-4E05-A082-EFC04A66BACC}"/>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0B6A4F70-FA2B-4865-8C1F-5937E4A0C511}"/>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77599CEA-CB73-42C5-9DC5-46956EF3FA2D}"/>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015BAC5E-28C6-4B89-BF16-EB04D45B7766}"/>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1961455484"/>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14DE178-D972-4B7A-A952-89228584D327}"/>
              </a:ext>
            </a:extLst>
          </p:cNvPr>
          <p:cNvPicPr>
            <a:picLocks xmlns:a="http://schemas.openxmlformats.org/drawingml/2006/main" noChangeAspect="1"/>
          </p:cNvPicPr>
          <p:nvPr/>
        </p:nvPicPr>
        <p:blipFill>
          <a:blip xmlns:r="http://schemas.openxmlformats.org/officeDocument/2006/relationships" xmlns:a="http://schemas.openxmlformats.org/drawingml/2006/main" r:embed="R70150aec9d5a4cf8"/>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0240C9A-7FB7-4424-B118-A01C24210E82}"/>
              </a:ext>
            </a:extLst>
          </p:cNvPr>
          <p:cNvPicPr>
            <a:picLocks xmlns:a="http://schemas.openxmlformats.org/drawingml/2006/main" noChangeAspect="1"/>
          </p:cNvPicPr>
          <p:nvPr/>
        </p:nvPicPr>
        <p:blipFill>
          <a:blip xmlns:r="http://schemas.openxmlformats.org/officeDocument/2006/relationships" xmlns:a="http://schemas.openxmlformats.org/drawingml/2006/main" r:embed="Rae30dbb7ded142c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17BFB69F-4DE7-40E2-8E4A-D5AACE7432D8}"/>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CB6A027-ED96-4D3C-A590-E872CD10AD1C}"/>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73FCF6DC-C19D-44DC-BDB3-72F0B90CAE94}"/>
              </a:ext>
            </a:extLst>
          </p:cNvPr>
          <p:cNvPicPr>
            <a:picLocks xmlns:a="http://schemas.openxmlformats.org/drawingml/2006/main" noChangeAspect="1"/>
          </p:cNvPicPr>
          <p:nvPr/>
        </p:nvPicPr>
        <p:blipFill>
          <a:blip xmlns:r="http://schemas.openxmlformats.org/officeDocument/2006/relationships" xmlns:a="http://schemas.openxmlformats.org/drawingml/2006/main" r:embed="R9047a52afce74258"/>
          <a:stretch xmlns:a="http://schemas.openxmlformats.org/drawingml/2006/main"/>
        </p:blipFill>
        <p:spPr>
          <a:xfrm xmlns:a="http://schemas.openxmlformats.org/drawingml/2006/main">
            <a:off x="1712429" y="2600325"/>
            <a:ext cx="8767141"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A36ABC1D-B957-4F9A-AFF3-76F57A3355A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0EA980D7-2E93-4F39-A31D-A949427FBCCE}"/>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289352662"/>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95C9DBF-EE69-41B2-B938-9A09CC65305F}"/>
              </a:ext>
            </a:extLst>
          </p:cNvPr>
          <p:cNvPicPr>
            <a:picLocks xmlns:a="http://schemas.openxmlformats.org/drawingml/2006/main" noChangeAspect="1"/>
          </p:cNvPicPr>
          <p:nvPr/>
        </p:nvPicPr>
        <p:blipFill>
          <a:blip xmlns:r="http://schemas.openxmlformats.org/officeDocument/2006/relationships" xmlns:a="http://schemas.openxmlformats.org/drawingml/2006/main" r:embed="Re198d93eb18b406f"/>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8178731-9FA9-4892-B99D-F483097C1D92}"/>
              </a:ext>
            </a:extLst>
          </p:cNvPr>
          <p:cNvPicPr>
            <a:picLocks xmlns:a="http://schemas.openxmlformats.org/drawingml/2006/main" noChangeAspect="1"/>
          </p:cNvPicPr>
          <p:nvPr/>
        </p:nvPicPr>
        <p:blipFill>
          <a:blip xmlns:r="http://schemas.openxmlformats.org/officeDocument/2006/relationships" xmlns:a="http://schemas.openxmlformats.org/drawingml/2006/main" r:embed="R080710af102544f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271D097C-3D6F-4327-9707-295BE36C8F31}"/>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defRPr sz="3750" b="1">
                <a:solidFill>
                  <a:srgbClr val="05244B"/>
                </a:solidFill>
                <a:latin typeface="Arial"/>
                <a:ea typeface="Arial"/>
                <a:cs typeface="Arial"/>
              </a:defRPr>
            </a:pPr>
            <a:r>
              <a:rPr sz="3750" b="1">
                <a:solidFill>
                  <a:srgbClr val="05244B"/>
                </a:solidFill>
                <a:latin typeface="Arial"/>
                <a:ea typeface="Arial"/>
                <a:cs typeface="Arial"/>
              </a:rPr>
              <a:t>Budget limits with context</a:t>
            </a:r>
          </a:p>
        </p:txBody>
      </p:sp>
      <p:sp>
        <p:nvSpPr>
          <p:cNvPr id="4" name="A monthly limit for&#10;each spending category">
            <a:extLst xmlns:a="http://schemas.openxmlformats.org/drawingml/2006/main">
              <a:ext uri="{FF2B5EF4-FFF2-40B4-BE49-F238E27FC236}">
                <a16:creationId xmlns:a16="http://schemas.microsoft.com/office/drawing/2014/main" id="{4E754203-4AC8-41E4-AD65-BC672D734F15}"/>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CA7D8327-8D0A-4813-A1D0-787DE487E7F8}"/>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37B0941D-BA25-4056-9B69-3CCFCABA8D63}"/>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FCACE4D4-B914-4765-943A-EF0ECECC1AF1}"/>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1429E0AE-817B-4C6E-B411-0BDB7347AB73}"/>
              </a:ext>
            </a:extLst>
          </p:cNvPr>
          <p:cNvPicPr>
            <a:picLocks xmlns:a="http://schemas.openxmlformats.org/drawingml/2006/main" noChangeAspect="1"/>
          </p:cNvPicPr>
          <p:nvPr/>
        </p:nvPicPr>
        <p:blipFill>
          <a:blip xmlns:r="http://schemas.openxmlformats.org/officeDocument/2006/relationships" xmlns:a="http://schemas.openxmlformats.org/drawingml/2006/main" r:embed="Rf8c0f8b29a7d4e0a"/>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CBC065D3-F1D5-45D3-AC67-D3D77BB3287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5C0D8158-4690-4991-8637-A4A7CD3E015E}"/>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133576319"/>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F6166B5-1129-48DB-A081-1926BB189A5A}"/>
              </a:ext>
            </a:extLst>
          </p:cNvPr>
          <p:cNvPicPr>
            <a:picLocks xmlns:a="http://schemas.openxmlformats.org/drawingml/2006/main" noChangeAspect="1"/>
          </p:cNvPicPr>
          <p:nvPr/>
        </p:nvPicPr>
        <p:blipFill>
          <a:blip xmlns:r="http://schemas.openxmlformats.org/officeDocument/2006/relationships" xmlns:a="http://schemas.openxmlformats.org/drawingml/2006/main" r:embed="R1af066b5484d4352"/>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B97C7E0-59D8-466D-A15E-C11A8E896ECE}"/>
              </a:ext>
            </a:extLst>
          </p:cNvPr>
          <p:cNvPicPr>
            <a:picLocks xmlns:a="http://schemas.openxmlformats.org/drawingml/2006/main" noChangeAspect="1"/>
          </p:cNvPicPr>
          <p:nvPr/>
        </p:nvPicPr>
        <p:blipFill>
          <a:blip xmlns:r="http://schemas.openxmlformats.org/officeDocument/2006/relationships" xmlns:a="http://schemas.openxmlformats.org/drawingml/2006/main" r:embed="R53145c93e6184768"/>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B39E7871-487C-492F-B9D4-54B42566F928}"/>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defRPr sz="3300" b="1">
                <a:solidFill>
                  <a:srgbClr val="05244B"/>
                </a:solidFill>
                <a:latin typeface="Arial"/>
                <a:ea typeface="Arial"/>
                <a:cs typeface="Arial"/>
              </a:defRPr>
            </a:pPr>
            <a:r>
              <a:rPr sz="3300" b="1">
                <a:solidFill>
                  <a:srgbClr val="05244B"/>
                </a:solidFill>
                <a:latin typeface="Arial"/>
                <a:ea typeface="Arial"/>
                <a:cs typeface="Arial"/>
              </a:rPr>
              <a:t>A monthly report you can understand</a:t>
            </a:r>
          </a:p>
        </p:txBody>
      </p:sp>
      <p:sp>
        <p:nvSpPr>
          <p:cNvPr id="4" name="A category breakdown explains where the money went.">
            <a:extLst xmlns:a="http://schemas.openxmlformats.org/drawingml/2006/main">
              <a:ext uri="{FF2B5EF4-FFF2-40B4-BE49-F238E27FC236}">
                <a16:creationId xmlns:a16="http://schemas.microsoft.com/office/drawing/2014/main" id="{491132BC-5479-4CD6-89F9-4D4BE3E6A02D}"/>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E37E9A15-F188-4B87-BA99-A6DFC0546DB4}"/>
              </a:ext>
            </a:extLst>
          </p:cNvPr>
          <p:cNvPicPr>
            <a:picLocks xmlns:a="http://schemas.openxmlformats.org/drawingml/2006/main" noChangeAspect="1"/>
          </p:cNvPicPr>
          <p:nvPr/>
        </p:nvPicPr>
        <p:blipFill>
          <a:blip xmlns:r="http://schemas.openxmlformats.org/officeDocument/2006/relationships" xmlns:a="http://schemas.openxmlformats.org/drawingml/2006/main" r:embed="Rd7c60246dda746f5"/>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5BF2A25-E347-4FBB-A239-7F936797E3C6}"/>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6D21C9ED-AF14-4EE6-8AF3-E93DCB5DC41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8B9EC899-201C-46AE-A838-7BCFCBF589C1}"/>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1546461229"/>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78BD2DE-C499-425A-B4F2-1D6C75F031E7}"/>
              </a:ext>
            </a:extLst>
          </p:cNvPr>
          <p:cNvPicPr>
            <a:picLocks xmlns:a="http://schemas.openxmlformats.org/drawingml/2006/main" noChangeAspect="1"/>
          </p:cNvPicPr>
          <p:nvPr/>
        </p:nvPicPr>
        <p:blipFill>
          <a:blip xmlns:r="http://schemas.openxmlformats.org/officeDocument/2006/relationships" xmlns:a="http://schemas.openxmlformats.org/drawingml/2006/main" r:embed="Rdf9d4c685a674f0e"/>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C9E6A01A-9B7E-457B-8B84-2859F7CC1B73}"/>
              </a:ext>
            </a:extLst>
          </p:cNvPr>
          <p:cNvPicPr>
            <a:picLocks xmlns:a="http://schemas.openxmlformats.org/drawingml/2006/main" noChangeAspect="1"/>
          </p:cNvPicPr>
          <p:nvPr/>
        </p:nvPicPr>
        <p:blipFill>
          <a:blip xmlns:r="http://schemas.openxmlformats.org/officeDocument/2006/relationships" xmlns:a="http://schemas.openxmlformats.org/drawingml/2006/main" r:embed="R7fabea14861c4c9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3CDBD779-18D3-4A13-A5B7-D7D9E11BAF8E}"/>
              </a:ext>
            </a:extLst>
          </p:cNvPr>
          <p:cNvSpPr>
            <a:spLocks xmlns:a="http://schemas.openxmlformats.org/drawingml/2006/main" noGrp="1"/>
          </p:cNvSpPr>
          <p:nvPr/>
        </p:nvSpPr>
        <p:spPr>
          <a:xfrm xmlns:a="http://schemas.openxmlformats.org/drawingml/2006/main">
            <a:off x="685800" y="1885950"/>
            <a:ext cx="1038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05244B"/>
                </a:solidFill>
                <a:latin typeface="Arial"/>
                <a:ea typeface="Arial"/>
                <a:cs typeface="Arial"/>
              </a:defRPr>
            </a:defPPr>
          </a:lstStyle>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A clearer picture of</a:t>
            </a:r>
          </a:p>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everyday money</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368719FF-7186-475B-A9DD-D8D42C8D7874}"/>
              </a:ext>
            </a:extLst>
          </p:cNvPr>
          <p:cNvSpPr>
            <a:spLocks xmlns:a="http://schemas.openxmlformats.org/drawingml/2006/main" noGrp="1"/>
          </p:cNvSpPr>
          <p:nvPr/>
        </p:nvSpPr>
        <p:spPr>
          <a:xfrm xmlns:a="http://schemas.openxmlformats.org/drawingml/2006/main">
            <a:off x="723900" y="39243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607589"/>
                </a:solidFill>
                <a:latin typeface="Arial"/>
                <a:ea typeface="Arial"/>
                <a:cs typeface="Arial"/>
              </a:defRPr>
            </a:defPPr>
          </a:lstStyle>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Finora brings spending and monthly budgets</a:t>
            </a:r>
          </a:p>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together, so the numbers are easier to understand.</a:t>
            </a:r>
          </a:p>
        </p:txBody>
      </p:sp>
      <p:sp>
        <p:nvSpPr>
          <p:cNvPr id="5" name="Live demo &amp; questions">
            <a:extLst xmlns:a="http://schemas.openxmlformats.org/drawingml/2006/main">
              <a:ext uri="{FF2B5EF4-FFF2-40B4-BE49-F238E27FC236}">
                <a16:creationId xmlns:a16="http://schemas.microsoft.com/office/drawing/2014/main" id="{8B2DEDF8-32FF-42D2-9223-5561B256AFD8}"/>
              </a:ext>
            </a:extLst>
          </p:cNvPr>
          <p:cNvSpPr>
            <a:spLocks xmlns:a="http://schemas.openxmlformats.org/drawingml/2006/main" noGrp="1"/>
          </p:cNvSpPr>
          <p:nvPr/>
        </p:nvSpPr>
        <p:spPr>
          <a:xfrm xmlns:a="http://schemas.openxmlformats.org/drawingml/2006/main">
            <a:off x="723900" y="5486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008B7B"/>
                </a:solidFill>
                <a:latin typeface="Arial"/>
                <a:ea typeface="Arial"/>
                <a:cs typeface="Arial"/>
              </a:defRPr>
            </a:defPPr>
          </a:lstStyle>
          <a:p xmlns:a="http://schemas.openxmlformats.org/drawingml/2006/main">
            <a:pPr>
              <a:defRPr sz="2850" b="1">
                <a:solidFill>
                  <a:srgbClr val="008B7B"/>
                </a:solidFill>
                <a:latin typeface="Arial"/>
                <a:ea typeface="Arial"/>
                <a:cs typeface="Arial"/>
              </a:defRPr>
            </a:pPr>
            <a:r>
              <a:rPr sz="2850" b="1">
                <a:solidFill>
                  <a:srgbClr val="008B7B"/>
                </a:solidFill>
                <a:latin typeface="Arial"/>
                <a:ea typeface="Arial"/>
                <a:cs typeface="Arial"/>
              </a:rPr>
              <a:t>Live demo &amp; questions</a:t>
            </a:r>
          </a:p>
        </p:txBody>
      </p:sp>
      <p:sp>
        <p:nvSpPr>
          <p:cNvPr id="6" name="Team 4">
            <a:extLst xmlns:a="http://schemas.openxmlformats.org/drawingml/2006/main">
              <a:ext uri="{FF2B5EF4-FFF2-40B4-BE49-F238E27FC236}">
                <a16:creationId xmlns:a16="http://schemas.microsoft.com/office/drawing/2014/main" id="{8F2102C7-55AB-4EB7-9ED2-DA58D9B7F17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C0FF91C3-6764-4492-ABF5-37A7CE88878A}"/>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140387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2026-10-11T23:31:38.8150000Z</dcterms:created>
  <dcterms:modified xsi:type="dcterms:W3CDTF">2026-10-11T23:31:38.8150000Z</dcterms:modified>
</coreProperties>
</file>