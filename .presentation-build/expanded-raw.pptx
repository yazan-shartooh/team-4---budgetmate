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4749413b6b4e78" /><Relationship Type="http://schemas.openxmlformats.org/officeDocument/2006/relationships/extended-properties" Target="/docProps/app.xml" Id="Rd7ce88975daa428f" /><Relationship Type="http://schemas.openxmlformats.org/officeDocument/2006/relationships/officeDocument" Target="/ppt/presentation.xml" Id="R7460184856ce4a40" /></Relationships>
</file>

<file path=ppt/presentation.xml><?xml version="1.0" encoding="utf-8"?>
<p:presentation xmlns:p="http://schemas.openxmlformats.org/presentationml/2006/main">
  <p:sldMasterIdLst>
    <p:sldMasterId xmlns:r="http://schemas.openxmlformats.org/officeDocument/2006/relationships" id="2147483648" r:id="R685ee1a7c0a04527"/>
  </p:sldMasterIdLst>
  <p:notesMasterIdLst>
    <p:notesMasterId xmlns:r="http://schemas.openxmlformats.org/officeDocument/2006/relationships" r:id="R09867c0f39594075"/>
  </p:notesMasterIdLst>
  <p:sldIdLst>
    <p:sldId xmlns:r="http://schemas.openxmlformats.org/officeDocument/2006/relationships" id="256" r:id="R33e4dd2a1fc04962"/>
    <p:sldId xmlns:r="http://schemas.openxmlformats.org/officeDocument/2006/relationships" id="257" r:id="R50499271f0d74dbe"/>
    <p:sldId xmlns:r="http://schemas.openxmlformats.org/officeDocument/2006/relationships" id="258" r:id="R7b07f9d655474a08"/>
    <p:sldId xmlns:r="http://schemas.openxmlformats.org/officeDocument/2006/relationships" id="259" r:id="R6391dd2653c74e47"/>
    <p:sldId xmlns:r="http://schemas.openxmlformats.org/officeDocument/2006/relationships" id="260" r:id="R17cd741adfb14659"/>
    <p:sldId xmlns:r="http://schemas.openxmlformats.org/officeDocument/2006/relationships" id="261" r:id="R377c6c3a9455492d"/>
    <p:sldId xmlns:r="http://schemas.openxmlformats.org/officeDocument/2006/relationships" id="262" r:id="R7bbf30a94a1847e3"/>
    <p:sldId xmlns:r="http://schemas.openxmlformats.org/officeDocument/2006/relationships" id="263" r:id="Rd948df59afe24546"/>
    <p:sldId xmlns:r="http://schemas.openxmlformats.org/officeDocument/2006/relationships" id="264" r:id="R1ed7885cc8cc4604"/>
    <p:sldId xmlns:r="http://schemas.openxmlformats.org/officeDocument/2006/relationships" id="265" r:id="Rb7299cb0a4014e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66a733bd244fac" /><Relationship Type="http://schemas.openxmlformats.org/officeDocument/2006/relationships/slideMaster" Target="/ppt/slideMasters/slideMaster1.xml" Id="R685ee1a7c0a04527" /><Relationship Type="http://schemas.openxmlformats.org/officeDocument/2006/relationships/notesMaster" Target="/ppt/notesMasters/notesMaster1.xml" Id="R09867c0f39594075" /><Relationship Type="http://schemas.openxmlformats.org/officeDocument/2006/relationships/presProps" Target="/ppt/presProps.xml" Id="R4f65757efcdd4b9b" /><Relationship Type="http://schemas.openxmlformats.org/officeDocument/2006/relationships/tableStyles" Target="/ppt/tableStyles.xml" Id="Rf5a9429cf5c34b46" /><Relationship Type="http://schemas.openxmlformats.org/officeDocument/2006/relationships/slide" Target="/ppt/slides/slide1.xml" Id="R33e4dd2a1fc04962" /><Relationship Type="http://schemas.openxmlformats.org/officeDocument/2006/relationships/slide" Target="/ppt/slides/slide2.xml" Id="R50499271f0d74dbe" /><Relationship Type="http://schemas.openxmlformats.org/officeDocument/2006/relationships/slide" Target="/ppt/slides/slide3.xml" Id="R7b07f9d655474a08" /><Relationship Type="http://schemas.openxmlformats.org/officeDocument/2006/relationships/slide" Target="/ppt/slides/slide4.xml" Id="R6391dd2653c74e47" /><Relationship Type="http://schemas.openxmlformats.org/officeDocument/2006/relationships/slide" Target="/ppt/slides/slide5.xml" Id="R17cd741adfb14659" /><Relationship Type="http://schemas.openxmlformats.org/officeDocument/2006/relationships/slide" Target="/ppt/slides/slide6.xml" Id="R377c6c3a9455492d" /><Relationship Type="http://schemas.openxmlformats.org/officeDocument/2006/relationships/slide" Target="/ppt/slides/slide7.xml" Id="R7bbf30a94a1847e3" /><Relationship Type="http://schemas.openxmlformats.org/officeDocument/2006/relationships/slide" Target="/ppt/slides/slide8.xml" Id="Rd948df59afe24546" /><Relationship Type="http://schemas.openxmlformats.org/officeDocument/2006/relationships/slide" Target="/ppt/slides/slide9.xml" Id="R1ed7885cc8cc4604" /><Relationship Type="http://schemas.openxmlformats.org/officeDocument/2006/relationships/slide" Target="/ppt/slides/slide10.xml" Id="Rb7299cb0a4014e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1bd0c3451c4d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877f14ca184451" /><Relationship Type="http://schemas.openxmlformats.org/officeDocument/2006/relationships/notesMaster" Target="/ppt/notesMasters/notesMaster1.xml" Id="R82aebcab55c148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50706a26974b8e" /><Relationship Type="http://schemas.openxmlformats.org/officeDocument/2006/relationships/notesMaster" Target="/ppt/notesMasters/notesMaster1.xml" Id="R3a5f406a00db40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7e268a581148e6" /><Relationship Type="http://schemas.openxmlformats.org/officeDocument/2006/relationships/notesMaster" Target="/ppt/notesMasters/notesMaster1.xml" Id="R87aa8c84343b40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40a6ad86f44248" /><Relationship Type="http://schemas.openxmlformats.org/officeDocument/2006/relationships/notesMaster" Target="/ppt/notesMasters/notesMaster1.xml" Id="R5b771bd986b843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e5d1787caf4ac2" /><Relationship Type="http://schemas.openxmlformats.org/officeDocument/2006/relationships/notesMaster" Target="/ppt/notesMasters/notesMaster1.xml" Id="R1c62e0f6de2e40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4d464a49d14d81" /><Relationship Type="http://schemas.openxmlformats.org/officeDocument/2006/relationships/notesMaster" Target="/ppt/notesMasters/notesMaster1.xml" Id="R47659067acdd46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53089c53d14197" /><Relationship Type="http://schemas.openxmlformats.org/officeDocument/2006/relationships/notesMaster" Target="/ppt/notesMasters/notesMaster1.xml" Id="R3350dbaa842b45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4dc25015794622" /><Relationship Type="http://schemas.openxmlformats.org/officeDocument/2006/relationships/notesMaster" Target="/ppt/notesMasters/notesMaster1.xml" Id="R34b7b644933f40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6989067f874160" /><Relationship Type="http://schemas.openxmlformats.org/officeDocument/2006/relationships/notesMaster" Target="/ppt/notesMasters/notesMaster1.xml" Id="Re36892b9ab224f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724112cc454494" /><Relationship Type="http://schemas.openxmlformats.org/officeDocument/2006/relationships/notesMaster" Target="/ppt/notesMasters/notesMaster1.xml" Id="R33a3db525b4649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
            </a:r>
          </a:p>
          <a:p xmlns:a="http://schemas.openxmlformats.org/drawingml/2006/main">
            <a:r>
              <a:t>Finora is our personal finance project. It helps people connect the money they earn and spend with a clear monthly plan. We will start with a familiar problem, show how the app addresses it, and explain who it is useful for.</a:t>
            </a:r>
          </a:p>
          <a:p xmlns:a="http://schemas.openxmlformats.org/drawingml/2006/main">
            <a:r>
              <a:t/>
            </a:r>
          </a:p>
          <a:p xmlns:a="http://schemas.openxmlformats.org/drawingml/2006/main">
            <a:r>
              <a:t>Transition to the next slide: Let’s start with the question many people ask at the end of the month.</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A balance tells us how much money remains, but not which purchases used it or whether a category is over its limit. Rent is easy to remember. Smaller purchases can be harder to follow. The result is missing context when we make our next spending decision.</a:t>
            </a:r>
          </a:p>
          <a:p xmlns:a="http://schemas.openxmlformats.org/drawingml/2006/main">
            <a:r>
              <a:t/>
            </a:r>
          </a:p>
          <a:p xmlns:a="http://schemas.openxmlformats.org/drawingml/2006/main">
            <a:r>
              <a:t>Transition to the next slide: Here is a simple example of how that missing context shows up.</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Imagine setting 200 dollars aside for entertainment. A concert costs 125 dollars, then dinner and cinema cost another 100. Each purchase has a reason, but together they reach 225 dollars. Without reviewing the category total, it is easy to miss the 25-dollar gap. This is an illustrative scenario based on the prototype’s sample entries.</a:t>
            </a:r>
          </a:p>
          <a:p xmlns:a="http://schemas.openxmlformats.org/drawingml/2006/main">
            <a:r>
              <a:t/>
            </a:r>
          </a:p>
          <a:p xmlns:a="http://schemas.openxmlformats.org/drawingml/2006/main">
            <a:r>
              <a:t>Transition to the next slide: Finora addresses that gap by connecting records, budgets and the monthly report.</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Finora answers the three questions directly. The transaction list shows what happened. Category budgets show how spending compares with a chosen limit. The monthly report explains the overall result. The user records the entries, and the app calculates the totals.</a:t>
            </a:r>
          </a:p>
          <a:p xmlns:a="http://schemas.openxmlformats.org/drawingml/2006/main">
            <a:r>
              <a:t/>
            </a:r>
          </a:p>
          <a:p xmlns:a="http://schemas.openxmlformats.org/drawingml/2006/main">
            <a:r>
              <a:t>Transition to the next slide: First, let’s look at the whole month before looking at individual purchases.</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In the sample month, recorded income is 5,250 dollars and expenses are 2,864 dollars. Their difference is 2,386 dollars, which the template calls monthly savings. This is the difference between recorded income and expenses, not proof of money held in a separate savings account. The dashboard image shows the intended prototype experience.</a:t>
            </a:r>
          </a:p>
          <a:p xmlns:a="http://schemas.openxmlformats.org/drawingml/2006/main">
            <a:r>
              <a:t/>
            </a:r>
          </a:p>
          <a:p xmlns:a="http://schemas.openxmlformats.org/drawingml/2006/main">
            <a:r>
              <a:t>Transition to the next slide: That overview depends on the everyday entries behind it.</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Users record an income or expense with an amount, date and category. The list keeps the entries together. Search and filters help find a transaction by month, type or category. Users can edit an incorrect entry or remove it. This makes it possible to trace a total back to its underlying purchases.</a:t>
            </a:r>
          </a:p>
          <a:p xmlns:a="http://schemas.openxmlformats.org/drawingml/2006/main">
            <a:r>
              <a:t/>
            </a:r>
          </a:p>
          <a:p xmlns:a="http://schemas.openxmlformats.org/drawingml/2006/main">
            <a:r>
              <a:t>Transition to the next slide: Once the spending is recorded, Finora can compare it with the plan.</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Return to the entertainment example. The budget is 200 dollars, and recorded spending is 225 dollars. Finora shows Exceeded and states that the category is 25 dollars over. Near-limit status appears from 80 percent through 100 percent, and spending above the limit is exceeded. The app reveals the situation so the user can review the next purchase. It does not guarantee savings or prevent spending.</a:t>
            </a:r>
          </a:p>
          <a:p xmlns:a="http://schemas.openxmlformats.org/drawingml/2006/main">
            <a:r>
              <a:t/>
            </a:r>
          </a:p>
          <a:p xmlns:a="http://schemas.openxmlformats.org/drawingml/2006/main">
            <a:r>
              <a:t>Transition to the next slide: The next question is what the complete month tells us.</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The report shows the spending categories for the selected month. Housing is the largest in this fictional example: 1,400 dollars, or 48.9 percent of total spending. This helps the user understand the pattern and review next month’s budget. The totals describe the recorded data and do not prescribe what someone should spend.</a:t>
            </a:r>
          </a:p>
          <a:p xmlns:a="http://schemas.openxmlformats.org/drawingml/2006/main">
            <a:r>
              <a:t/>
            </a:r>
          </a:p>
          <a:p xmlns:a="http://schemas.openxmlformats.org/drawingml/2006/main">
            <a:r>
              <a:t>Transition to the next slide: These features lead to a practical question: why would someone choose Finora?</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The reasons are clarity, control and a connection to daily choices. Clear totals and category names make the information easier to follow. Editable entries and budgets let users maintain their own plan. Showing the remaining amount or overspend gives context for the next purchase. Finora is a fit for people who want to actively record and review everyday spending. These are reasons to use this project, not claims that it outperforms every other finance app.</a:t>
            </a:r>
          </a:p>
          <a:p xmlns:a="http://schemas.openxmlformats.org/drawingml/2006/main">
            <a:r>
              <a:t/>
            </a:r>
          </a:p>
          <a:p xmlns:a="http://schemas.openxmlformats.org/drawingml/2006/main">
            <a:r>
              <a:t>Transition to the next slide: Let’s finish by following one expense through the app.</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 then demo or questions.</a:t>
            </a:r>
          </a:p>
          <a:p xmlns:a="http://schemas.openxmlformats.org/drawingml/2006/main">
            <a:r>
              <a:t/>
            </a:r>
          </a:p>
          <a:p xmlns:a="http://schemas.openxmlformats.org/drawingml/2006/main">
            <a:r>
              <a:t>For the live demonstration, record a food expense, check the category budget, and open the monthly report. That short journey shows how one entry becomes useful context. If asked about readiness, connected transactions, budgets and monthly reports are present in the main app. Dashboard and Income pages remain in progress. The server retains data through browser refresh but resets when it restarts. The standalone design template resets on reload and has no bank connection or authentication.</a:t>
            </a:r>
          </a:p>
          <a:p xmlns:a="http://schemas.openxmlformats.org/drawingml/2006/main">
            <a:r>
              <a:t/>
            </a:r>
          </a:p>
          <a:p xmlns:a="http://schemas.openxmlformats.org/drawingml/2006/main">
            <a:r>
              <a:t>Transition to the next slide: Thank you. We’re ready for your questions.</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b72f3bda914c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e272f603094a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eb57f9fb0c45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facdcf85b746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d14b51ac4949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3d82a30dd345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62AB10-8A74-4CAD-BFE4-8967A867C9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5AEAD3-941B-47C9-8D5A-8B31060BC8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2E18BD-8BD4-4F23-BF39-C8A5641E83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4B3556-4126-4224-BE24-6588D4CD3F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3470A9-09E2-42B8-A04B-DD6F661A0D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DEC83C-04BF-43FB-B5C2-3A1EB41DC3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30428C-B156-446C-AC8A-DD4DACFD5E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C7116A-8B19-4FF1-A7FD-731D4EC691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0545F2-FA24-461F-9FD4-696C980216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1DD3E9-A5C3-42F3-B658-57CDBA4207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754982ac31460d" /><Relationship Type="http://schemas.openxmlformats.org/officeDocument/2006/relationships/slideLayout" Target="/ppt/slideLayouts/slideLayout1.xml" Id="Re841c57676e8446c" /><Relationship Type="http://schemas.openxmlformats.org/officeDocument/2006/relationships/slideLayout" Target="/ppt/slideLayouts/slideLayout2.xml" Id="R15577d1b5c184fa1" /><Relationship Type="http://schemas.openxmlformats.org/officeDocument/2006/relationships/slideLayout" Target="/ppt/slideLayouts/slideLayout3.xml" Id="R9c68f4546f044cd4" /><Relationship Type="http://schemas.openxmlformats.org/officeDocument/2006/relationships/slideLayout" Target="/ppt/slideLayouts/slideLayout4.xml" Id="Rc094d3e4a8d04e8b" /><Relationship Type="http://schemas.openxmlformats.org/officeDocument/2006/relationships/slideLayout" Target="/ppt/slideLayouts/slideLayout5.xml" Id="R1de18dd7209f4c7f" /><Relationship Type="http://schemas.openxmlformats.org/officeDocument/2006/relationships/slideLayout" Target="/ppt/slideLayouts/slideLayout6.xml" Id="Rb84465cff28b41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1c57676e8446c"/>
    <p:sldLayoutId xmlns:r="http://schemas.openxmlformats.org/officeDocument/2006/relationships" id="2147483650" r:id="R15577d1b5c184fa1"/>
    <p:sldLayoutId xmlns:r="http://schemas.openxmlformats.org/officeDocument/2006/relationships" id="2147483651" r:id="R9c68f4546f044cd4"/>
    <p:sldLayoutId xmlns:r="http://schemas.openxmlformats.org/officeDocument/2006/relationships" id="2147483652" r:id="Rc094d3e4a8d04e8b"/>
    <p:sldLayoutId xmlns:r="http://schemas.openxmlformats.org/officeDocument/2006/relationships" id="2147483653" r:id="R1de18dd7209f4c7f"/>
    <p:sldLayoutId xmlns:r="http://schemas.openxmlformats.org/officeDocument/2006/relationships" id="2147483654" r:id="Rb84465cff28b41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76bee1a32d45cd" /><Relationship Type="http://schemas.openxmlformats.org/officeDocument/2006/relationships/image" Target="/ppt/media/image.png" Id="Rc740d733070e4689" /><Relationship Type="http://schemas.openxmlformats.org/officeDocument/2006/relationships/image" Target="/ppt/media/image2.png" Id="R1c87038fb66f4b24" /><Relationship Type="http://schemas.openxmlformats.org/officeDocument/2006/relationships/image" Target="/ppt/media/image3.png" Id="R8f701bab9e934b1e" /><Relationship Type="http://schemas.openxmlformats.org/officeDocument/2006/relationships/notesSlide" Target="/ppt/notesSlides/notesSlide1.xml" Id="Race193f218a849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5d137ae8cb14347" /><Relationship Type="http://schemas.openxmlformats.org/officeDocument/2006/relationships/notesSlide" Target="/ppt/notesSlides/notesSlide2.xml" Id="R0a7dc06e5a4b4e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03aa5ed9e04fd2" /><Relationship Type="http://schemas.openxmlformats.org/officeDocument/2006/relationships/image" Target="/ppt/media/image4.png" Id="R3e1378a3e91e4251" /><Relationship Type="http://schemas.openxmlformats.org/officeDocument/2006/relationships/image" Target="/ppt/media/image5.png" Id="R103abd77b509436e" /><Relationship Type="http://schemas.openxmlformats.org/officeDocument/2006/relationships/notesSlide" Target="/ppt/notesSlides/notesSlide3.xml" Id="R3afa255b2c6f4d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5dfdd751e5a4fef" /><Relationship Type="http://schemas.openxmlformats.org/officeDocument/2006/relationships/image" Target="/ppt/media/image6.png" Id="R28ce311825b545a3" /><Relationship Type="http://schemas.openxmlformats.org/officeDocument/2006/relationships/image" Target="/ppt/media/image7.png" Id="R731dc78057d242fe" /><Relationship Type="http://schemas.openxmlformats.org/officeDocument/2006/relationships/notesSlide" Target="/ppt/notesSlides/notesSlide4.xml" Id="Re4074605d9f648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4578abe43c4439" /><Relationship Type="http://schemas.openxmlformats.org/officeDocument/2006/relationships/image" Target="/ppt/media/image8.png" Id="Rba1c30f45a2c44fa" /><Relationship Type="http://schemas.openxmlformats.org/officeDocument/2006/relationships/image" Target="/ppt/media/image9.png" Id="Rbae7395005584a29" /><Relationship Type="http://schemas.openxmlformats.org/officeDocument/2006/relationships/image" Target="/ppt/media/image10.png" Id="Rd8e8429b42844703" /><Relationship Type="http://schemas.openxmlformats.org/officeDocument/2006/relationships/notesSlide" Target="/ppt/notesSlides/notesSlide5.xml" Id="R2bd68069d91043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61bdc2df4314c11" /><Relationship Type="http://schemas.openxmlformats.org/officeDocument/2006/relationships/image" Target="/ppt/media/image11.png" Id="R411ff9d210be41ba" /><Relationship Type="http://schemas.openxmlformats.org/officeDocument/2006/relationships/image" Target="/ppt/media/image12.png" Id="R31a150b80891466d" /><Relationship Type="http://schemas.openxmlformats.org/officeDocument/2006/relationships/image" Target="/ppt/media/image13.png" Id="R96eca3bc5192436e" /><Relationship Type="http://schemas.openxmlformats.org/officeDocument/2006/relationships/notesSlide" Target="/ppt/notesSlides/notesSlide6.xml" Id="Rd23181ecb98f45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e04123f8fc463e" /><Relationship Type="http://schemas.openxmlformats.org/officeDocument/2006/relationships/image" Target="/ppt/media/image14.png" Id="R1f2d2ff3f2e44b45" /><Relationship Type="http://schemas.openxmlformats.org/officeDocument/2006/relationships/image" Target="/ppt/media/image15.png" Id="R58896549c1684989" /><Relationship Type="http://schemas.openxmlformats.org/officeDocument/2006/relationships/image" Target="/ppt/media/image16.png" Id="Reb7f8c4769644164" /><Relationship Type="http://schemas.openxmlformats.org/officeDocument/2006/relationships/notesSlide" Target="/ppt/notesSlides/notesSlide7.xml" Id="Rb017990d7d4b49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baf1e1243bd441d" /><Relationship Type="http://schemas.openxmlformats.org/officeDocument/2006/relationships/image" Target="/ppt/media/image17.png" Id="R5ab5cc6464534f75" /><Relationship Type="http://schemas.openxmlformats.org/officeDocument/2006/relationships/image" Target="/ppt/media/image18.png" Id="Ra475cf58fac64e9f" /><Relationship Type="http://schemas.openxmlformats.org/officeDocument/2006/relationships/image" Target="/ppt/media/image19.png" Id="R3874aa5378664ebc" /><Relationship Type="http://schemas.openxmlformats.org/officeDocument/2006/relationships/notesSlide" Target="/ppt/notesSlides/notesSlide8.xml" Id="R19049621ce0341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3654190094a40a0" /><Relationship Type="http://schemas.openxmlformats.org/officeDocument/2006/relationships/image" Target="/ppt/media/image20.png" Id="R556c669a721d440f" /><Relationship Type="http://schemas.openxmlformats.org/officeDocument/2006/relationships/image" Target="/ppt/media/image21.png" Id="R65df1507d47c4a5d" /><Relationship Type="http://schemas.openxmlformats.org/officeDocument/2006/relationships/notesSlide" Target="/ppt/notesSlides/notesSlide9.xml" Id="R82509a886f9f43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de6ee2baf554168" /><Relationship Type="http://schemas.openxmlformats.org/officeDocument/2006/relationships/image" Target="/ppt/media/image22.png" Id="Rc3ae08348ac34d90" /><Relationship Type="http://schemas.openxmlformats.org/officeDocument/2006/relationships/image" Target="/ppt/media/image23.png" Id="R56e13f22a4b749c5" /><Relationship Type="http://schemas.openxmlformats.org/officeDocument/2006/relationships/notesSlide" Target="/ppt/notesSlides/notesSlide10.xml" Id="Ra7211219389f4a34" /></Relationships>
</file>

<file path=ppt/slides/slide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182E795-D997-4516-BAAF-CE49BC481E63}"/>
              </a:ext>
            </a:extLst>
          </p:cNvPr>
          <p:cNvPicPr>
            <a:picLocks xmlns:a="http://schemas.openxmlformats.org/drawingml/2006/main" noChangeAspect="1"/>
          </p:cNvPicPr>
          <p:nvPr/>
        </p:nvPicPr>
        <p:blipFill>
          <a:blip xmlns:r="http://schemas.openxmlformats.org/officeDocument/2006/relationships" xmlns:a="http://schemas.openxmlformats.org/drawingml/2006/main" r:embed="Rc740d733070e4689"/>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B5435721-9B48-4D6F-8D5E-7B1EDF05AA00}"/>
              </a:ext>
            </a:extLst>
          </p:cNvPr>
          <p:cNvPicPr>
            <a:picLocks xmlns:a="http://schemas.openxmlformats.org/drawingml/2006/main" noChangeAspect="1"/>
          </p:cNvPicPr>
          <p:nvPr/>
        </p:nvPicPr>
        <p:blipFill>
          <a:blip xmlns:r="http://schemas.openxmlformats.org/officeDocument/2006/relationships" xmlns:a="http://schemas.openxmlformats.org/drawingml/2006/main" r:embed="R1c87038fb66f4b24"/>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ey,&#10;clearly.">
            <a:extLst xmlns:a="http://schemas.openxmlformats.org/drawingml/2006/main">
              <a:ext uri="{FF2B5EF4-FFF2-40B4-BE49-F238E27FC236}">
                <a16:creationId xmlns:a16="http://schemas.microsoft.com/office/drawing/2014/main" id="{23907386-3402-4D8B-805E-43EEB39FC516}"/>
              </a:ext>
            </a:extLst>
          </p:cNvPr>
          <p:cNvSpPr>
            <a:spLocks xmlns:a="http://schemas.openxmlformats.org/drawingml/2006/main" noGrp="1"/>
          </p:cNvSpPr>
          <p:nvPr/>
        </p:nvSpPr>
        <p:spPr>
          <a:xfrm xmlns:a="http://schemas.openxmlformats.org/drawingml/2006/main">
            <a:off x="685800" y="2095500"/>
            <a:ext cx="7620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150" b="1">
                <a:solidFill>
                  <a:srgbClr val="05244B"/>
                </a:solidFill>
                <a:latin typeface="Arial"/>
                <a:ea typeface="Arial"/>
                <a:cs typeface="Arial"/>
              </a:defRPr>
            </a:defPPr>
          </a:lstStyle>
          <a:p xmlns:a="http://schemas.openxmlformats.org/drawingml/2006/main">
            <a:pPr>
              <a:buNone/>
              <a:defRPr sz="6150" b="1">
                <a:solidFill>
                  <a:srgbClr val="05244B"/>
                </a:solidFill>
                <a:latin typeface="Arial"/>
                <a:ea typeface="Arial"/>
                <a:cs typeface="Arial"/>
              </a:defRPr>
            </a:pPr>
            <a:r>
              <a:rPr sz="6150" b="1">
                <a:solidFill>
                  <a:srgbClr val="05244B"/>
                </a:solidFill>
                <a:latin typeface="Arial"/>
                <a:ea typeface="Arial"/>
                <a:cs typeface="Arial"/>
              </a:rPr>
              <a:t>Your money,</a:t>
            </a:r>
          </a:p>
          <a:p xmlns:a="http://schemas.openxmlformats.org/drawingml/2006/main">
            <a:pPr>
              <a:buNone/>
              <a:defRPr sz="6150" b="1">
                <a:solidFill>
                  <a:srgbClr val="05244B"/>
                </a:solidFill>
                <a:latin typeface="Arial"/>
                <a:ea typeface="Arial"/>
                <a:cs typeface="Arial"/>
              </a:defRPr>
            </a:pPr>
            <a:r>
              <a:rPr sz="6150" b="1">
                <a:solidFill>
                  <a:srgbClr val="05244B"/>
                </a:solidFill>
                <a:latin typeface="Arial"/>
                <a:ea typeface="Arial"/>
                <a:cs typeface="Arial"/>
              </a:rPr>
              <a:t>clearly.</a:t>
            </a:r>
          </a:p>
        </p:txBody>
      </p:sp>
      <p:sp>
        <p:nvSpPr>
          <p:cNvPr id="4" name="Personal finance for everyday life">
            <a:extLst xmlns:a="http://schemas.openxmlformats.org/drawingml/2006/main">
              <a:ext uri="{FF2B5EF4-FFF2-40B4-BE49-F238E27FC236}">
                <a16:creationId xmlns:a16="http://schemas.microsoft.com/office/drawing/2014/main" id="{9B3C1DF2-53E9-43BD-819B-506B2A8A2172}"/>
              </a:ext>
            </a:extLst>
          </p:cNvPr>
          <p:cNvSpPr>
            <a:spLocks xmlns:a="http://schemas.openxmlformats.org/drawingml/2006/main" noGrp="1"/>
          </p:cNvSpPr>
          <p:nvPr/>
        </p:nvSpPr>
        <p:spPr>
          <a:xfrm xmlns:a="http://schemas.openxmlformats.org/drawingml/2006/main">
            <a:off x="723900" y="44196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607589"/>
                </a:solidFill>
                <a:latin typeface="Arial"/>
                <a:ea typeface="Arial"/>
                <a:cs typeface="Arial"/>
              </a:defRPr>
            </a:defPPr>
          </a:lstStyle>
          <a:p xmlns:a="http://schemas.openxmlformats.org/drawingml/2006/main">
            <a:pPr>
              <a:buNone/>
              <a:defRPr sz="2175" b="0">
                <a:solidFill>
                  <a:srgbClr val="607589"/>
                </a:solidFill>
                <a:latin typeface="Arial"/>
                <a:ea typeface="Arial"/>
                <a:cs typeface="Arial"/>
              </a:defRPr>
            </a:pPr>
            <a:r>
              <a:rPr sz="2175" b="0">
                <a:solidFill>
                  <a:srgbClr val="607589"/>
                </a:solidFill>
                <a:latin typeface="Arial"/>
                <a:ea typeface="Arial"/>
                <a:cs typeface="Arial"/>
              </a:rPr>
              <a:t>Personal finance for everyday life</a:t>
            </a:r>
          </a:p>
        </p:txBody>
      </p:sp>
      <p:pic>
        <p:nvPicPr>
          <p:cNvPr id="5" name="">
            <a:extLst xmlns:a="http://schemas.openxmlformats.org/drawingml/2006/main">
              <a:ext uri="{FF2B5EF4-FFF2-40B4-BE49-F238E27FC236}">
                <a16:creationId xmlns:a16="http://schemas.microsoft.com/office/drawing/2014/main" id="{C1420BA3-097B-482A-BFB0-08F4F78A2717}"/>
              </a:ext>
            </a:extLst>
          </p:cNvPr>
          <p:cNvPicPr>
            <a:picLocks xmlns:a="http://schemas.openxmlformats.org/drawingml/2006/main" noChangeAspect="1"/>
          </p:cNvPicPr>
          <p:nvPr/>
        </p:nvPicPr>
        <p:blipFill>
          <a:blip xmlns:r="http://schemas.openxmlformats.org/officeDocument/2006/relationships" xmlns:a="http://schemas.openxmlformats.org/drawingml/2006/main" r:embed="R8f701bab9e934b1e"/>
          <a:stretch xmlns:a="http://schemas.openxmlformats.org/drawingml/2006/main"/>
        </p:blipFill>
        <p:spPr>
          <a:xfrm xmlns:a="http://schemas.openxmlformats.org/drawingml/2006/main">
            <a:off x="8220075" y="2211532"/>
            <a:ext cx="2914650" cy="2796886"/>
          </a:xfrm>
          <a:prstGeom xmlns:a="http://schemas.openxmlformats.org/drawingml/2006/main" prst="rect">
            <a:avLst/>
          </a:prstGeom>
        </p:spPr>
      </p:pic>
      <p:sp>
        <p:nvSpPr>
          <p:cNvPr id="6" name="Team 4   /   Project presentation">
            <a:extLst xmlns:a="http://schemas.openxmlformats.org/drawingml/2006/main">
              <a:ext uri="{FF2B5EF4-FFF2-40B4-BE49-F238E27FC236}">
                <a16:creationId xmlns:a16="http://schemas.microsoft.com/office/drawing/2014/main" id="{B746CDE7-E06F-4221-AE9D-96750FA9A727}"/>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Team 4   /   Project presentation</a:t>
            </a:r>
          </a:p>
        </p:txBody>
      </p:sp>
      <p:sp>
        <p:nvSpPr>
          <p:cNvPr id="7" name="01">
            <a:extLst xmlns:a="http://schemas.openxmlformats.org/drawingml/2006/main">
              <a:ext uri="{FF2B5EF4-FFF2-40B4-BE49-F238E27FC236}">
                <a16:creationId xmlns:a16="http://schemas.microsoft.com/office/drawing/2014/main" id="{6895785F-997E-4B53-A541-E4478B50B335}"/>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01</a:t>
            </a:r>
          </a:p>
        </p:txBody>
      </p:sp>
    </p:spTree>
    <p:extLst>
      <p:ext uri="{BB962C8B-B14F-4D97-AF65-F5344CB8AC3E}">
        <p14:creationId xmlns:p14="http://schemas.microsoft.com/office/powerpoint/2010/main" val="431265098"/>
      </p:ext>
    </p:extLst>
  </p:cSld>
</p:sld>
</file>

<file path=ppt/slides/slide2.xml><?xml version="1.0" encoding="utf-8"?>
<p:sld xmlns:p="http://schemas.openxmlformats.org/presentationml/2006/main">
  <p:cSld>
    <p:bg>
      <p:bgPr>
        <a:solidFill xmlns:a="http://schemas.openxmlformats.org/drawingml/2006/main">
          <a:srgbClr val="05244B"/>
        </a:solidFill>
      </p:bgPr>
    </p:bg>
    <p:spTree>
      <p:nvGrpSpPr>
        <p:cNvPr id="1" name=""/>
        <p:cNvGrpSpPr/>
        <p:nvPr/>
      </p:nvGrpSpPr>
      <p:grpSpPr>
        <a:xfrm xmlns:a="http://schemas.openxmlformats.org/drawingml/2006/main"/>
      </p:grpSpPr>
      <p:sp>
        <p:nvSpPr>
          <p:cNvPr id="9" name="Where did my&#10;money go?">
            <a:extLst xmlns:a="http://schemas.openxmlformats.org/drawingml/2006/main">
              <a:ext uri="{FF2B5EF4-FFF2-40B4-BE49-F238E27FC236}">
                <a16:creationId xmlns:a16="http://schemas.microsoft.com/office/drawing/2014/main" id="{86D01F47-CAC4-49A7-9AA7-1B8748B0E8A4}"/>
              </a:ext>
            </a:extLst>
          </p:cNvPr>
          <p:cNvSpPr>
            <a:spLocks xmlns:a="http://schemas.openxmlformats.org/drawingml/2006/main" noGrp="1"/>
          </p:cNvSpPr>
          <p:nvPr/>
        </p:nvSpPr>
        <p:spPr>
          <a:xfrm xmlns:a="http://schemas.openxmlformats.org/drawingml/2006/main">
            <a:off x="685800" y="1628775"/>
            <a:ext cx="7477125"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550" b="1">
                <a:solidFill>
                  <a:srgbClr val="FFFFFF"/>
                </a:solidFill>
                <a:latin typeface="Arial"/>
                <a:ea typeface="Arial"/>
                <a:cs typeface="Arial"/>
              </a:defRPr>
            </a:defPPr>
          </a:lstStyle>
          <a:p xmlns:a="http://schemas.openxmlformats.org/drawingml/2006/main">
            <a:pPr>
              <a:buNone/>
              <a:defRPr sz="5550" b="1">
                <a:solidFill>
                  <a:srgbClr val="FFFFFF"/>
                </a:solidFill>
                <a:latin typeface="Arial"/>
                <a:ea typeface="Arial"/>
                <a:cs typeface="Arial"/>
              </a:defRPr>
            </a:pPr>
            <a:r>
              <a:rPr sz="5550" b="1">
                <a:solidFill>
                  <a:srgbClr val="FFFFFF"/>
                </a:solidFill>
                <a:latin typeface="Arial"/>
                <a:ea typeface="Arial"/>
                <a:cs typeface="Arial"/>
              </a:rPr>
              <a:t>Where did my</a:t>
            </a:r>
          </a:p>
          <a:p xmlns:a="http://schemas.openxmlformats.org/drawingml/2006/main">
            <a:pPr>
              <a:buNone/>
              <a:defRPr sz="5550" b="1">
                <a:solidFill>
                  <a:srgbClr val="FFFFFF"/>
                </a:solidFill>
                <a:latin typeface="Arial"/>
                <a:ea typeface="Arial"/>
                <a:cs typeface="Arial"/>
              </a:defRPr>
            </a:pPr>
            <a:r>
              <a:rPr sz="5550" b="1">
                <a:solidFill>
                  <a:srgbClr val="FFFFFF"/>
                </a:solidFill>
                <a:latin typeface="Arial"/>
                <a:ea typeface="Arial"/>
                <a:cs typeface="Arial"/>
              </a:rPr>
              <a:t>money go?</a:t>
            </a:r>
          </a:p>
        </p:txBody>
      </p:sp>
      <p:sp>
        <p:nvSpPr>
          <p:cNvPr id="2" name="A balance alone cannot explain&#10;your spending.">
            <a:extLst xmlns:a="http://schemas.openxmlformats.org/drawingml/2006/main">
              <a:ext uri="{FF2B5EF4-FFF2-40B4-BE49-F238E27FC236}">
                <a16:creationId xmlns:a16="http://schemas.microsoft.com/office/drawing/2014/main" id="{8414B9C1-33EA-4BA6-84F6-A231DE512157}"/>
              </a:ext>
            </a:extLst>
          </p:cNvPr>
          <p:cNvSpPr>
            <a:spLocks xmlns:a="http://schemas.openxmlformats.org/drawingml/2006/main" noGrp="1"/>
          </p:cNvSpPr>
          <p:nvPr/>
        </p:nvSpPr>
        <p:spPr>
          <a:xfrm xmlns:a="http://schemas.openxmlformats.org/drawingml/2006/main">
            <a:off x="723900" y="3810000"/>
            <a:ext cx="714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95CFC5"/>
                </a:solidFill>
                <a:latin typeface="Arial"/>
                <a:ea typeface="Arial"/>
                <a:cs typeface="Arial"/>
              </a:defRPr>
            </a:defPPr>
          </a:lstStyle>
          <a:p xmlns:a="http://schemas.openxmlformats.org/drawingml/2006/main">
            <a:pPr>
              <a:buNone/>
              <a:defRPr sz="2325" b="0">
                <a:solidFill>
                  <a:srgbClr val="95CFC5"/>
                </a:solidFill>
                <a:latin typeface="Arial"/>
                <a:ea typeface="Arial"/>
                <a:cs typeface="Arial"/>
              </a:defRPr>
            </a:pPr>
            <a:r>
              <a:rPr sz="2325" b="0">
                <a:solidFill>
                  <a:srgbClr val="95CFC5"/>
                </a:solidFill>
                <a:latin typeface="Arial"/>
                <a:ea typeface="Arial"/>
                <a:cs typeface="Arial"/>
              </a:rPr>
              <a:t>A balance alone cannot explain</a:t>
            </a:r>
          </a:p>
          <a:p xmlns:a="http://schemas.openxmlformats.org/drawingml/2006/main">
            <a:pPr>
              <a:buNone/>
              <a:defRPr sz="2325" b="0">
                <a:solidFill>
                  <a:srgbClr val="95CFC5"/>
                </a:solidFill>
                <a:latin typeface="Arial"/>
                <a:ea typeface="Arial"/>
                <a:cs typeface="Arial"/>
              </a:defRPr>
            </a:pPr>
            <a:r>
              <a:rPr sz="2325" b="0">
                <a:solidFill>
                  <a:srgbClr val="95CFC5"/>
                </a:solidFill>
                <a:latin typeface="Arial"/>
                <a:ea typeface="Arial"/>
                <a:cs typeface="Arial"/>
              </a:rPr>
              <a:t>your spending.</a:t>
            </a:r>
          </a:p>
        </p:txBody>
      </p:sp>
      <p:sp>
        <p:nvSpPr>
          <p:cNvPr id="3" name="Small purchases add up">
            <a:extLst xmlns:a="http://schemas.openxmlformats.org/drawingml/2006/main">
              <a:ext uri="{FF2B5EF4-FFF2-40B4-BE49-F238E27FC236}">
                <a16:creationId xmlns:a16="http://schemas.microsoft.com/office/drawing/2014/main" id="{60B5782F-4EE3-4426-BEB3-CE826C0BBA89}"/>
              </a:ext>
            </a:extLst>
          </p:cNvPr>
          <p:cNvSpPr>
            <a:spLocks xmlns:a="http://schemas.openxmlformats.org/drawingml/2006/main" noGrp="1"/>
          </p:cNvSpPr>
          <p:nvPr/>
        </p:nvSpPr>
        <p:spPr>
          <a:xfrm xmlns:a="http://schemas.openxmlformats.org/drawingml/2006/main">
            <a:off x="8239125" y="20955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Small purchases add up</a:t>
            </a:r>
          </a:p>
        </p:txBody>
      </p:sp>
      <p:sp>
        <p:nvSpPr>
          <p:cNvPr id="4" name="Daily spending can be&#10;easy to lose track of.">
            <a:extLst xmlns:a="http://schemas.openxmlformats.org/drawingml/2006/main">
              <a:ext uri="{FF2B5EF4-FFF2-40B4-BE49-F238E27FC236}">
                <a16:creationId xmlns:a16="http://schemas.microsoft.com/office/drawing/2014/main" id="{3ACF1643-3B6B-4639-8174-5FE8E8DDDF88}"/>
              </a:ext>
            </a:extLst>
          </p:cNvPr>
          <p:cNvSpPr>
            <a:spLocks xmlns:a="http://schemas.openxmlformats.org/drawingml/2006/main" noGrp="1"/>
          </p:cNvSpPr>
          <p:nvPr/>
        </p:nvSpPr>
        <p:spPr>
          <a:xfrm xmlns:a="http://schemas.openxmlformats.org/drawingml/2006/main">
            <a:off x="8239125" y="2914650"/>
            <a:ext cx="3286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Daily spending can be</a:t>
            </a:r>
          </a:p>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easy to lose track of.</a:t>
            </a:r>
          </a:p>
        </p:txBody>
      </p:sp>
      <p:sp>
        <p:nvSpPr>
          <p:cNvPr id="5" name="Limits need context">
            <a:extLst xmlns:a="http://schemas.openxmlformats.org/drawingml/2006/main">
              <a:ext uri="{FF2B5EF4-FFF2-40B4-BE49-F238E27FC236}">
                <a16:creationId xmlns:a16="http://schemas.microsoft.com/office/drawing/2014/main" id="{4DA7DA38-A216-4B50-8CA0-E3498CD965D0}"/>
              </a:ext>
            </a:extLst>
          </p:cNvPr>
          <p:cNvSpPr>
            <a:spLocks xmlns:a="http://schemas.openxmlformats.org/drawingml/2006/main" noGrp="1"/>
          </p:cNvSpPr>
          <p:nvPr/>
        </p:nvSpPr>
        <p:spPr>
          <a:xfrm xmlns:a="http://schemas.openxmlformats.org/drawingml/2006/main">
            <a:off x="8239125" y="41148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Limits need context</a:t>
            </a:r>
          </a:p>
        </p:txBody>
      </p:sp>
      <p:sp>
        <p:nvSpPr>
          <p:cNvPr id="6" name="It helps to see what is&#10;left in each category.">
            <a:extLst xmlns:a="http://schemas.openxmlformats.org/drawingml/2006/main">
              <a:ext uri="{FF2B5EF4-FFF2-40B4-BE49-F238E27FC236}">
                <a16:creationId xmlns:a16="http://schemas.microsoft.com/office/drawing/2014/main" id="{E3F90612-7AA8-4743-B12E-73994BDCDEC0}"/>
              </a:ext>
            </a:extLst>
          </p:cNvPr>
          <p:cNvSpPr>
            <a:spLocks xmlns:a="http://schemas.openxmlformats.org/drawingml/2006/main" noGrp="1"/>
          </p:cNvSpPr>
          <p:nvPr/>
        </p:nvSpPr>
        <p:spPr>
          <a:xfrm xmlns:a="http://schemas.openxmlformats.org/drawingml/2006/main">
            <a:off x="8239125" y="463867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It helps to see what is</a:t>
            </a:r>
          </a:p>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left in each category.</a:t>
            </a:r>
          </a:p>
        </p:txBody>
      </p:sp>
      <p:sp>
        <p:nvSpPr>
          <p:cNvPr id="7" name="">
            <a:extLst xmlns:a="http://schemas.openxmlformats.org/drawingml/2006/main">
              <a:ext uri="{FF2B5EF4-FFF2-40B4-BE49-F238E27FC236}">
                <a16:creationId xmlns:a16="http://schemas.microsoft.com/office/drawing/2014/main" id="{934EBE84-AB7D-41B8-9216-3E7C64381744}"/>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r>
              <a:t/>
            </a:r>
          </a:p>
        </p:txBody>
      </p:sp>
      <p:sp>
        <p:nvSpPr>
          <p:cNvPr id="8" name="02">
            <a:extLst xmlns:a="http://schemas.openxmlformats.org/drawingml/2006/main">
              <a:ext uri="{FF2B5EF4-FFF2-40B4-BE49-F238E27FC236}">
                <a16:creationId xmlns:a16="http://schemas.microsoft.com/office/drawing/2014/main" id="{9B4DFB70-F7B1-48A3-BB00-A9460E02302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pPr>
              <a:buNone/>
              <a:defRPr sz="1200" b="0">
                <a:solidFill>
                  <a:srgbClr val="95CFC5"/>
                </a:solidFill>
                <a:latin typeface="Arial"/>
                <a:ea typeface="Arial"/>
                <a:cs typeface="Arial"/>
              </a:defRPr>
            </a:pPr>
            <a:r>
              <a:rPr sz="1200" b="0">
                <a:solidFill>
                  <a:srgbClr val="95CFC5"/>
                </a:solidFill>
                <a:latin typeface="Arial"/>
                <a:ea typeface="Arial"/>
                <a:cs typeface="Arial"/>
              </a:rPr>
              <a:t>02</a:t>
            </a:r>
          </a:p>
        </p:txBody>
      </p:sp>
    </p:spTree>
    <p:extLst>
      <p:ext uri="{BB962C8B-B14F-4D97-AF65-F5344CB8AC3E}">
        <p14:creationId xmlns:p14="http://schemas.microsoft.com/office/powerpoint/2010/main" val="310012984"/>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C456427-15BF-4565-96B9-8E9D58447D22}"/>
              </a:ext>
            </a:extLst>
          </p:cNvPr>
          <p:cNvPicPr>
            <a:picLocks xmlns:a="http://schemas.openxmlformats.org/drawingml/2006/main" noChangeAspect="1"/>
          </p:cNvPicPr>
          <p:nvPr/>
        </p:nvPicPr>
        <p:blipFill>
          <a:blip xmlns:r="http://schemas.openxmlformats.org/officeDocument/2006/relationships" xmlns:a="http://schemas.openxmlformats.org/drawingml/2006/main" r:embed="R3e1378a3e91e4251"/>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BC201F55-E863-4BB3-A298-4B64567245D0}"/>
              </a:ext>
            </a:extLst>
          </p:cNvPr>
          <p:cNvPicPr>
            <a:picLocks xmlns:a="http://schemas.openxmlformats.org/drawingml/2006/main" noChangeAspect="1"/>
          </p:cNvPicPr>
          <p:nvPr/>
        </p:nvPicPr>
        <p:blipFill>
          <a:blip xmlns:r="http://schemas.openxmlformats.org/officeDocument/2006/relationships" xmlns:a="http://schemas.openxmlformats.org/drawingml/2006/main" r:embed="R103abd77b509436e"/>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small overspend can be easy to miss">
            <a:extLst xmlns:a="http://schemas.openxmlformats.org/drawingml/2006/main">
              <a:ext uri="{FF2B5EF4-FFF2-40B4-BE49-F238E27FC236}">
                <a16:creationId xmlns:a16="http://schemas.microsoft.com/office/drawing/2014/main" id="{4677E387-E9A7-4113-9DF7-9D1A961BA2AE}"/>
              </a:ext>
            </a:extLst>
          </p:cNvPr>
          <p:cNvSpPr>
            <a:spLocks xmlns:a="http://schemas.openxmlformats.org/drawingml/2006/main" noGrp="1"/>
          </p:cNvSpPr>
          <p:nvPr/>
        </p:nvSpPr>
        <p:spPr>
          <a:xfrm xmlns:a="http://schemas.openxmlformats.org/drawingml/2006/main">
            <a:off x="685800" y="13620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05244B"/>
                </a:solidFill>
                <a:latin typeface="Arial"/>
                <a:ea typeface="Arial"/>
                <a:cs typeface="Arial"/>
              </a:defRPr>
            </a:defPPr>
          </a:lstStyle>
          <a:p xmlns:a="http://schemas.openxmlformats.org/drawingml/2006/main">
            <a:pPr>
              <a:defRPr sz="3375" b="1">
                <a:solidFill>
                  <a:srgbClr val="05244B"/>
                </a:solidFill>
                <a:latin typeface="Arial"/>
                <a:ea typeface="Arial"/>
                <a:cs typeface="Arial"/>
              </a:defRPr>
            </a:pPr>
            <a:r>
              <a:rPr sz="3375" b="1">
                <a:solidFill>
                  <a:srgbClr val="05244B"/>
                </a:solidFill>
                <a:latin typeface="Arial"/>
                <a:ea typeface="Arial"/>
                <a:cs typeface="Arial"/>
              </a:rPr>
              <a:t>A small overspend can be easy to miss</a:t>
            </a:r>
          </a:p>
        </p:txBody>
      </p:sp>
      <p:sp>
        <p:nvSpPr>
          <p:cNvPr id="4" name="An everyday example: entertainment spending">
            <a:extLst xmlns:a="http://schemas.openxmlformats.org/drawingml/2006/main">
              <a:ext uri="{FF2B5EF4-FFF2-40B4-BE49-F238E27FC236}">
                <a16:creationId xmlns:a16="http://schemas.microsoft.com/office/drawing/2014/main" id="{557024FA-F3D0-42F2-AD2E-FE1E8A70053C}"/>
              </a:ext>
            </a:extLst>
          </p:cNvPr>
          <p:cNvSpPr>
            <a:spLocks xmlns:a="http://schemas.openxmlformats.org/drawingml/2006/main" noGrp="1"/>
          </p:cNvSpPr>
          <p:nvPr/>
        </p:nvSpPr>
        <p:spPr>
          <a:xfrm xmlns:a="http://schemas.openxmlformats.org/drawingml/2006/main">
            <a:off x="723900" y="20669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defRPr sz="1950" b="0">
                <a:solidFill>
                  <a:srgbClr val="607589"/>
                </a:solidFill>
                <a:latin typeface="Arial"/>
                <a:ea typeface="Arial"/>
                <a:cs typeface="Arial"/>
              </a:defRPr>
            </a:pPr>
            <a:r>
              <a:rPr sz="1950" b="0">
                <a:solidFill>
                  <a:srgbClr val="607589"/>
                </a:solidFill>
                <a:latin typeface="Arial"/>
                <a:ea typeface="Arial"/>
                <a:cs typeface="Arial"/>
              </a:rPr>
              <a:t>An everyday example: entertainment spending</a:t>
            </a:r>
          </a:p>
        </p:txBody>
      </p:sp>
      <p:sp>
        <p:nvSpPr>
          <p:cNvPr id="5" name="THE MONTHLY PLAN">
            <a:extLst xmlns:a="http://schemas.openxmlformats.org/drawingml/2006/main">
              <a:ext uri="{FF2B5EF4-FFF2-40B4-BE49-F238E27FC236}">
                <a16:creationId xmlns:a16="http://schemas.microsoft.com/office/drawing/2014/main" id="{824D97FB-B2F3-46A3-A47D-C7447C220282}"/>
              </a:ext>
            </a:extLst>
          </p:cNvPr>
          <p:cNvSpPr>
            <a:spLocks xmlns:a="http://schemas.openxmlformats.org/drawingml/2006/main" noGrp="1"/>
          </p:cNvSpPr>
          <p:nvPr/>
        </p:nvSpPr>
        <p:spPr>
          <a:xfrm xmlns:a="http://schemas.openxmlformats.org/drawingml/2006/main">
            <a:off x="723900" y="31051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07589"/>
                </a:solidFill>
                <a:latin typeface="Arial"/>
                <a:ea typeface="Arial"/>
                <a:cs typeface="Arial"/>
              </a:defRPr>
            </a:defPPr>
          </a:lstStyle>
          <a:p xmlns:a="http://schemas.openxmlformats.org/drawingml/2006/main">
            <a:pPr>
              <a:defRPr sz="1500" b="1">
                <a:solidFill>
                  <a:srgbClr val="607589"/>
                </a:solidFill>
                <a:latin typeface="Arial"/>
                <a:ea typeface="Arial"/>
                <a:cs typeface="Arial"/>
              </a:defRPr>
            </a:pPr>
            <a:r>
              <a:rPr sz="1500" b="1">
                <a:solidFill>
                  <a:srgbClr val="607589"/>
                </a:solidFill>
                <a:latin typeface="Arial"/>
                <a:ea typeface="Arial"/>
                <a:cs typeface="Arial"/>
              </a:rPr>
              <a:t>THE MONTHLY PLAN</a:t>
            </a:r>
          </a:p>
        </p:txBody>
      </p:sp>
      <p:sp>
        <p:nvSpPr>
          <p:cNvPr id="6" name="$200">
            <a:extLst xmlns:a="http://schemas.openxmlformats.org/drawingml/2006/main">
              <a:ext uri="{FF2B5EF4-FFF2-40B4-BE49-F238E27FC236}">
                <a16:creationId xmlns:a16="http://schemas.microsoft.com/office/drawing/2014/main" id="{DA93607D-CE51-4B84-874F-062D91860D16}"/>
              </a:ext>
            </a:extLst>
          </p:cNvPr>
          <p:cNvSpPr>
            <a:spLocks xmlns:a="http://schemas.openxmlformats.org/drawingml/2006/main" noGrp="1"/>
          </p:cNvSpPr>
          <p:nvPr/>
        </p:nvSpPr>
        <p:spPr>
          <a:xfrm xmlns:a="http://schemas.openxmlformats.org/drawingml/2006/main">
            <a:off x="685800" y="3505200"/>
            <a:ext cx="504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00" b="1">
                <a:solidFill>
                  <a:srgbClr val="05244B"/>
                </a:solidFill>
                <a:latin typeface="Arial"/>
                <a:ea typeface="Arial"/>
                <a:cs typeface="Arial"/>
              </a:defRPr>
            </a:defPPr>
          </a:lstStyle>
          <a:p xmlns:a="http://schemas.openxmlformats.org/drawingml/2006/main">
            <a:pPr>
              <a:defRPr sz="6000" b="1">
                <a:solidFill>
                  <a:srgbClr val="05244B"/>
                </a:solidFill>
                <a:latin typeface="Arial"/>
                <a:ea typeface="Arial"/>
                <a:cs typeface="Arial"/>
              </a:defRPr>
            </a:pPr>
            <a:r>
              <a:rPr sz="6000" b="1">
                <a:solidFill>
                  <a:srgbClr val="05244B"/>
                </a:solidFill>
                <a:latin typeface="Arial"/>
                <a:ea typeface="Arial"/>
                <a:cs typeface="Arial"/>
              </a:rPr>
              <a:t>$200</a:t>
            </a:r>
          </a:p>
        </p:txBody>
      </p:sp>
      <p:sp>
        <p:nvSpPr>
          <p:cNvPr id="7" name="WHAT WAS SPENT">
            <a:extLst xmlns:a="http://schemas.openxmlformats.org/drawingml/2006/main">
              <a:ext uri="{FF2B5EF4-FFF2-40B4-BE49-F238E27FC236}">
                <a16:creationId xmlns:a16="http://schemas.microsoft.com/office/drawing/2014/main" id="{287051C6-9CCF-4DB2-B93D-89BD0F540FB9}"/>
              </a:ext>
            </a:extLst>
          </p:cNvPr>
          <p:cNvSpPr>
            <a:spLocks xmlns:a="http://schemas.openxmlformats.org/drawingml/2006/main" noGrp="1"/>
          </p:cNvSpPr>
          <p:nvPr/>
        </p:nvSpPr>
        <p:spPr>
          <a:xfrm xmlns:a="http://schemas.openxmlformats.org/drawingml/2006/main">
            <a:off x="6686550" y="31051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07589"/>
                </a:solidFill>
                <a:latin typeface="Arial"/>
                <a:ea typeface="Arial"/>
                <a:cs typeface="Arial"/>
              </a:defRPr>
            </a:defPPr>
          </a:lstStyle>
          <a:p xmlns:a="http://schemas.openxmlformats.org/drawingml/2006/main">
            <a:pPr>
              <a:defRPr sz="1500" b="1">
                <a:solidFill>
                  <a:srgbClr val="607589"/>
                </a:solidFill>
                <a:latin typeface="Arial"/>
                <a:ea typeface="Arial"/>
                <a:cs typeface="Arial"/>
              </a:defRPr>
            </a:pPr>
            <a:r>
              <a:rPr sz="1500" b="1">
                <a:solidFill>
                  <a:srgbClr val="607589"/>
                </a:solidFill>
                <a:latin typeface="Arial"/>
                <a:ea typeface="Arial"/>
                <a:cs typeface="Arial"/>
              </a:rPr>
              <a:t>WHAT WAS SPENT</a:t>
            </a:r>
          </a:p>
        </p:txBody>
      </p:sp>
      <p:sp>
        <p:nvSpPr>
          <p:cNvPr id="8" name="$225">
            <a:extLst xmlns:a="http://schemas.openxmlformats.org/drawingml/2006/main">
              <a:ext uri="{FF2B5EF4-FFF2-40B4-BE49-F238E27FC236}">
                <a16:creationId xmlns:a16="http://schemas.microsoft.com/office/drawing/2014/main" id="{296C6E34-E675-4B10-A678-B97EC39AC6EB}"/>
              </a:ext>
            </a:extLst>
          </p:cNvPr>
          <p:cNvSpPr>
            <a:spLocks xmlns:a="http://schemas.openxmlformats.org/drawingml/2006/main" noGrp="1"/>
          </p:cNvSpPr>
          <p:nvPr/>
        </p:nvSpPr>
        <p:spPr>
          <a:xfrm xmlns:a="http://schemas.openxmlformats.org/drawingml/2006/main">
            <a:off x="6648450" y="35052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00" b="1">
                <a:solidFill>
                  <a:srgbClr val="BA6B55"/>
                </a:solidFill>
                <a:latin typeface="Arial"/>
                <a:ea typeface="Arial"/>
                <a:cs typeface="Arial"/>
              </a:defRPr>
            </a:defPPr>
          </a:lstStyle>
          <a:p xmlns:a="http://schemas.openxmlformats.org/drawingml/2006/main">
            <a:pPr>
              <a:defRPr sz="6000" b="1">
                <a:solidFill>
                  <a:srgbClr val="BA6B55"/>
                </a:solidFill>
                <a:latin typeface="Arial"/>
                <a:ea typeface="Arial"/>
                <a:cs typeface="Arial"/>
              </a:defRPr>
            </a:pPr>
            <a:r>
              <a:rPr sz="6000" b="1">
                <a:solidFill>
                  <a:srgbClr val="BA6B55"/>
                </a:solidFill>
                <a:latin typeface="Arial"/>
                <a:ea typeface="Arial"/>
                <a:cs typeface="Arial"/>
              </a:rPr>
              <a:t>$225</a:t>
            </a:r>
          </a:p>
        </p:txBody>
      </p:sp>
      <p:sp>
        <p:nvSpPr>
          <p:cNvPr id="9" name="The missing signal: $25 over budget">
            <a:extLst xmlns:a="http://schemas.openxmlformats.org/drawingml/2006/main">
              <a:ext uri="{FF2B5EF4-FFF2-40B4-BE49-F238E27FC236}">
                <a16:creationId xmlns:a16="http://schemas.microsoft.com/office/drawing/2014/main" id="{6561CEED-8617-43B5-A8BD-8D0998B4955A}"/>
              </a:ext>
            </a:extLst>
          </p:cNvPr>
          <p:cNvSpPr>
            <a:spLocks xmlns:a="http://schemas.openxmlformats.org/drawingml/2006/main" noGrp="1"/>
          </p:cNvSpPr>
          <p:nvPr/>
        </p:nvSpPr>
        <p:spPr>
          <a:xfrm xmlns:a="http://schemas.openxmlformats.org/drawingml/2006/main">
            <a:off x="723900" y="50196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1">
                <a:solidFill>
                  <a:srgbClr val="BA6B55"/>
                </a:solidFill>
                <a:latin typeface="Arial"/>
                <a:ea typeface="Arial"/>
                <a:cs typeface="Arial"/>
              </a:defRPr>
            </a:defPPr>
          </a:lstStyle>
          <a:p xmlns:a="http://schemas.openxmlformats.org/drawingml/2006/main">
            <a:pPr>
              <a:defRPr sz="2775" b="1">
                <a:solidFill>
                  <a:srgbClr val="BA6B55"/>
                </a:solidFill>
                <a:latin typeface="Arial"/>
                <a:ea typeface="Arial"/>
                <a:cs typeface="Arial"/>
              </a:defRPr>
            </a:pPr>
            <a:r>
              <a:rPr sz="2775" b="1">
                <a:solidFill>
                  <a:srgbClr val="BA6B55"/>
                </a:solidFill>
                <a:latin typeface="Arial"/>
                <a:ea typeface="Arial"/>
                <a:cs typeface="Arial"/>
              </a:rPr>
              <a:t>The missing signal: $25 over budget</a:t>
            </a:r>
          </a:p>
        </p:txBody>
      </p:sp>
      <p:sp>
        <p:nvSpPr>
          <p:cNvPr id="10" name="Without a category total, the gap can go unnoticed.">
            <a:extLst xmlns:a="http://schemas.openxmlformats.org/drawingml/2006/main">
              <a:ext uri="{FF2B5EF4-FFF2-40B4-BE49-F238E27FC236}">
                <a16:creationId xmlns:a16="http://schemas.microsoft.com/office/drawing/2014/main" id="{DCEB8246-9DD6-42E7-A257-39B4B50DDC94}"/>
              </a:ext>
            </a:extLst>
          </p:cNvPr>
          <p:cNvSpPr>
            <a:spLocks xmlns:a="http://schemas.openxmlformats.org/drawingml/2006/main" noGrp="1"/>
          </p:cNvSpPr>
          <p:nvPr/>
        </p:nvSpPr>
        <p:spPr>
          <a:xfrm xmlns:a="http://schemas.openxmlformats.org/drawingml/2006/main">
            <a:off x="723900" y="56197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defRPr sz="1950" b="0">
                <a:solidFill>
                  <a:srgbClr val="607589"/>
                </a:solidFill>
                <a:latin typeface="Arial"/>
                <a:ea typeface="Arial"/>
                <a:cs typeface="Arial"/>
              </a:defRPr>
            </a:pPr>
            <a:r>
              <a:rPr sz="1950" b="0">
                <a:solidFill>
                  <a:srgbClr val="607589"/>
                </a:solidFill>
                <a:latin typeface="Arial"/>
                <a:ea typeface="Arial"/>
                <a:cs typeface="Arial"/>
              </a:rPr>
              <a:t>Without a category total, the gap can go unnoticed.</a:t>
            </a:r>
          </a:p>
        </p:txBody>
      </p:sp>
      <p:sp>
        <p:nvSpPr>
          <p:cNvPr id="11" name="Illustrative scenario   /   Fictional sample data in USD">
            <a:extLst xmlns:a="http://schemas.openxmlformats.org/drawingml/2006/main">
              <a:ext uri="{FF2B5EF4-FFF2-40B4-BE49-F238E27FC236}">
                <a16:creationId xmlns:a16="http://schemas.microsoft.com/office/drawing/2014/main" id="{23AC97E7-00AB-4FA2-9FB9-F9A778696763}"/>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Illustrative scenario   /   Fictional sample data in USD</a:t>
            </a:r>
          </a:p>
        </p:txBody>
      </p:sp>
      <p:sp>
        <p:nvSpPr>
          <p:cNvPr id="12" name="03">
            <a:extLst xmlns:a="http://schemas.openxmlformats.org/drawingml/2006/main">
              <a:ext uri="{FF2B5EF4-FFF2-40B4-BE49-F238E27FC236}">
                <a16:creationId xmlns:a16="http://schemas.microsoft.com/office/drawing/2014/main" id="{3EED1C12-E8F7-4A59-84CC-438D507F42DC}"/>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03</a:t>
            </a:r>
          </a:p>
        </p:txBody>
      </p:sp>
    </p:spTree>
    <p:extLst>
      <p:ext uri="{BB962C8B-B14F-4D97-AF65-F5344CB8AC3E}">
        <p14:creationId xmlns:p14="http://schemas.microsoft.com/office/powerpoint/2010/main" val="1838788439"/>
      </p:ext>
    </p:extLst>
  </p:cSld>
</p:sld>
</file>

<file path=ppt/slides/slide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4A494C5E-4A07-4953-8C87-EE4271639304}"/>
              </a:ext>
            </a:extLst>
          </p:cNvPr>
          <p:cNvPicPr>
            <a:picLocks xmlns:a="http://schemas.openxmlformats.org/drawingml/2006/main" noChangeAspect="1"/>
          </p:cNvPicPr>
          <p:nvPr/>
        </p:nvPicPr>
        <p:blipFill>
          <a:blip xmlns:r="http://schemas.openxmlformats.org/officeDocument/2006/relationships" xmlns:a="http://schemas.openxmlformats.org/drawingml/2006/main" r:embed="R28ce311825b545a3"/>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261CE3F9-6CB3-4CEF-AD4F-64875840AB2C}"/>
              </a:ext>
            </a:extLst>
          </p:cNvPr>
          <p:cNvPicPr>
            <a:picLocks xmlns:a="http://schemas.openxmlformats.org/drawingml/2006/main" noChangeAspect="1"/>
          </p:cNvPicPr>
          <p:nvPr/>
        </p:nvPicPr>
        <p:blipFill>
          <a:blip xmlns:r="http://schemas.openxmlformats.org/officeDocument/2006/relationships" xmlns:a="http://schemas.openxmlformats.org/drawingml/2006/main" r:embed="R731dc78057d242fe"/>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How Finora solves the problem">
            <a:extLst xmlns:a="http://schemas.openxmlformats.org/drawingml/2006/main">
              <a:ext uri="{FF2B5EF4-FFF2-40B4-BE49-F238E27FC236}">
                <a16:creationId xmlns:a16="http://schemas.microsoft.com/office/drawing/2014/main" id="{F11E1DA7-3EF7-406D-BB82-80AE5DFE2B01}"/>
              </a:ext>
            </a:extLst>
          </p:cNvPr>
          <p:cNvSpPr>
            <a:spLocks xmlns:a="http://schemas.openxmlformats.org/drawingml/2006/main" noGrp="1"/>
          </p:cNvSpPr>
          <p:nvPr/>
        </p:nvSpPr>
        <p:spPr>
          <a:xfrm xmlns:a="http://schemas.openxmlformats.org/drawingml/2006/main">
            <a:off x="685800" y="13620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75" b="1">
                <a:solidFill>
                  <a:srgbClr val="05244B"/>
                </a:solidFill>
                <a:latin typeface="Arial"/>
                <a:ea typeface="Arial"/>
                <a:cs typeface="Arial"/>
              </a:defRPr>
            </a:defPPr>
          </a:lstStyle>
          <a:p xmlns:a="http://schemas.openxmlformats.org/drawingml/2006/main">
            <a:pPr>
              <a:defRPr sz="3675" b="1">
                <a:solidFill>
                  <a:srgbClr val="05244B"/>
                </a:solidFill>
                <a:latin typeface="Arial"/>
                <a:ea typeface="Arial"/>
                <a:cs typeface="Arial"/>
              </a:defRPr>
            </a:pPr>
            <a:r>
              <a:rPr sz="3675" b="1">
                <a:solidFill>
                  <a:srgbClr val="05244B"/>
                </a:solidFill>
                <a:latin typeface="Arial"/>
                <a:ea typeface="Arial"/>
                <a:cs typeface="Arial"/>
              </a:rPr>
              <a:t>How Finora solves the problem</a:t>
            </a:r>
          </a:p>
        </p:txBody>
      </p:sp>
      <p:sp>
        <p:nvSpPr>
          <p:cNvPr id="4" name="THE EVERYDAY QUESTION">
            <a:extLst xmlns:a="http://schemas.openxmlformats.org/drawingml/2006/main">
              <a:ext uri="{FF2B5EF4-FFF2-40B4-BE49-F238E27FC236}">
                <a16:creationId xmlns:a16="http://schemas.microsoft.com/office/drawing/2014/main" id="{A93E4141-CCA0-45E9-80D3-FC5CC93FFCF3}"/>
              </a:ext>
            </a:extLst>
          </p:cNvPr>
          <p:cNvSpPr>
            <a:spLocks xmlns:a="http://schemas.openxmlformats.org/drawingml/2006/main" noGrp="1"/>
          </p:cNvSpPr>
          <p:nvPr/>
        </p:nvSpPr>
        <p:spPr>
          <a:xfrm xmlns:a="http://schemas.openxmlformats.org/drawingml/2006/main">
            <a:off x="723900" y="24669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07589"/>
                </a:solidFill>
                <a:latin typeface="Arial"/>
                <a:ea typeface="Arial"/>
                <a:cs typeface="Arial"/>
              </a:defRPr>
            </a:defPPr>
          </a:lstStyle>
          <a:p xmlns:a="http://schemas.openxmlformats.org/drawingml/2006/main">
            <a:pPr>
              <a:defRPr sz="1425" b="1">
                <a:solidFill>
                  <a:srgbClr val="607589"/>
                </a:solidFill>
                <a:latin typeface="Arial"/>
                <a:ea typeface="Arial"/>
                <a:cs typeface="Arial"/>
              </a:defRPr>
            </a:pPr>
            <a:r>
              <a:rPr sz="1425" b="1">
                <a:solidFill>
                  <a:srgbClr val="607589"/>
                </a:solidFill>
                <a:latin typeface="Arial"/>
                <a:ea typeface="Arial"/>
                <a:cs typeface="Arial"/>
              </a:rPr>
              <a:t>THE EVERYDAY QUESTION</a:t>
            </a:r>
          </a:p>
        </p:txBody>
      </p:sp>
      <p:sp>
        <p:nvSpPr>
          <p:cNvPr id="5" name="FINORA’S ANSWER">
            <a:extLst xmlns:a="http://schemas.openxmlformats.org/drawingml/2006/main">
              <a:ext uri="{FF2B5EF4-FFF2-40B4-BE49-F238E27FC236}">
                <a16:creationId xmlns:a16="http://schemas.microsoft.com/office/drawing/2014/main" id="{88394456-1B17-41C7-ADBF-B16BEC2FEDA8}"/>
              </a:ext>
            </a:extLst>
          </p:cNvPr>
          <p:cNvSpPr>
            <a:spLocks xmlns:a="http://schemas.openxmlformats.org/drawingml/2006/main" noGrp="1"/>
          </p:cNvSpPr>
          <p:nvPr/>
        </p:nvSpPr>
        <p:spPr>
          <a:xfrm xmlns:a="http://schemas.openxmlformats.org/drawingml/2006/main">
            <a:off x="6334125" y="246697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008B7B"/>
                </a:solidFill>
                <a:latin typeface="Arial"/>
                <a:ea typeface="Arial"/>
                <a:cs typeface="Arial"/>
              </a:defRPr>
            </a:defPPr>
          </a:lstStyle>
          <a:p xmlns:a="http://schemas.openxmlformats.org/drawingml/2006/main">
            <a:pPr>
              <a:defRPr sz="1425" b="1">
                <a:solidFill>
                  <a:srgbClr val="008B7B"/>
                </a:solidFill>
                <a:latin typeface="Arial"/>
                <a:ea typeface="Arial"/>
                <a:cs typeface="Arial"/>
              </a:defRPr>
            </a:pPr>
            <a:r>
              <a:rPr sz="1425" b="1">
                <a:solidFill>
                  <a:srgbClr val="008B7B"/>
                </a:solidFill>
                <a:latin typeface="Arial"/>
                <a:ea typeface="Arial"/>
                <a:cs typeface="Arial"/>
              </a:rPr>
              <a:t>FINORA’S ANSWER</a:t>
            </a:r>
          </a:p>
        </p:txBody>
      </p:sp>
      <p:sp>
        <p:nvSpPr>
          <p:cNvPr id="6" name="Where did it go?">
            <a:extLst xmlns:a="http://schemas.openxmlformats.org/drawingml/2006/main">
              <a:ext uri="{FF2B5EF4-FFF2-40B4-BE49-F238E27FC236}">
                <a16:creationId xmlns:a16="http://schemas.microsoft.com/office/drawing/2014/main" id="{09E52CAE-7C4D-4725-B77D-31CAD1C171E0}"/>
              </a:ext>
            </a:extLst>
          </p:cNvPr>
          <p:cNvSpPr>
            <a:spLocks xmlns:a="http://schemas.openxmlformats.org/drawingml/2006/main" noGrp="1"/>
          </p:cNvSpPr>
          <p:nvPr/>
        </p:nvSpPr>
        <p:spPr>
          <a:xfrm xmlns:a="http://schemas.openxmlformats.org/drawingml/2006/main">
            <a:off x="723900" y="3086100"/>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Where did it go?</a:t>
            </a:r>
          </a:p>
        </p:txBody>
      </p:sp>
      <p:sp>
        <p:nvSpPr>
          <p:cNvPr id="7" name="One searchable transaction list">
            <a:extLst xmlns:a="http://schemas.openxmlformats.org/drawingml/2006/main">
              <a:ext uri="{FF2B5EF4-FFF2-40B4-BE49-F238E27FC236}">
                <a16:creationId xmlns:a16="http://schemas.microsoft.com/office/drawing/2014/main" id="{8FE7C76F-CE9B-4ABC-9EB2-1EBB9F42539C}"/>
              </a:ext>
            </a:extLst>
          </p:cNvPr>
          <p:cNvSpPr>
            <a:spLocks xmlns:a="http://schemas.openxmlformats.org/drawingml/2006/main" noGrp="1"/>
          </p:cNvSpPr>
          <p:nvPr/>
        </p:nvSpPr>
        <p:spPr>
          <a:xfrm xmlns:a="http://schemas.openxmlformats.org/drawingml/2006/main">
            <a:off x="6334125" y="308610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defRPr sz="2175" b="1">
                <a:solidFill>
                  <a:srgbClr val="008B7B"/>
                </a:solidFill>
                <a:latin typeface="Arial"/>
                <a:ea typeface="Arial"/>
                <a:cs typeface="Arial"/>
              </a:defRPr>
            </a:pPr>
            <a:r>
              <a:rPr sz="2175" b="1">
                <a:solidFill>
                  <a:srgbClr val="008B7B"/>
                </a:solidFill>
                <a:latin typeface="Arial"/>
                <a:ea typeface="Arial"/>
                <a:cs typeface="Arial"/>
              </a:rPr>
              <a:t>One searchable transaction list</a:t>
            </a:r>
          </a:p>
        </p:txBody>
      </p:sp>
      <p:sp>
        <p:nvSpPr>
          <p:cNvPr id="8" name="Income and spending stay together.">
            <a:extLst xmlns:a="http://schemas.openxmlformats.org/drawingml/2006/main">
              <a:ext uri="{FF2B5EF4-FFF2-40B4-BE49-F238E27FC236}">
                <a16:creationId xmlns:a16="http://schemas.microsoft.com/office/drawing/2014/main" id="{89A709A1-E944-4C37-90E5-590E6C588B9E}"/>
              </a:ext>
            </a:extLst>
          </p:cNvPr>
          <p:cNvSpPr>
            <a:spLocks xmlns:a="http://schemas.openxmlformats.org/drawingml/2006/main" noGrp="1"/>
          </p:cNvSpPr>
          <p:nvPr/>
        </p:nvSpPr>
        <p:spPr>
          <a:xfrm xmlns:a="http://schemas.openxmlformats.org/drawingml/2006/main">
            <a:off x="6334125" y="354330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defRPr sz="1725" b="0">
                <a:solidFill>
                  <a:srgbClr val="607589"/>
                </a:solidFill>
                <a:latin typeface="Arial"/>
                <a:ea typeface="Arial"/>
                <a:cs typeface="Arial"/>
              </a:defRPr>
            </a:pPr>
            <a:r>
              <a:rPr sz="1725" b="0">
                <a:solidFill>
                  <a:srgbClr val="607589"/>
                </a:solidFill>
                <a:latin typeface="Arial"/>
                <a:ea typeface="Arial"/>
                <a:cs typeface="Arial"/>
              </a:rPr>
              <a:t>Income and spending stay together.</a:t>
            </a:r>
          </a:p>
        </p:txBody>
      </p:sp>
      <p:sp>
        <p:nvSpPr>
          <p:cNvPr id="9" name="Am I over budget?">
            <a:extLst xmlns:a="http://schemas.openxmlformats.org/drawingml/2006/main">
              <a:ext uri="{FF2B5EF4-FFF2-40B4-BE49-F238E27FC236}">
                <a16:creationId xmlns:a16="http://schemas.microsoft.com/office/drawing/2014/main" id="{EDCB9810-E44F-4469-B8FF-AC9ED537BD01}"/>
              </a:ext>
            </a:extLst>
          </p:cNvPr>
          <p:cNvSpPr>
            <a:spLocks xmlns:a="http://schemas.openxmlformats.org/drawingml/2006/main" noGrp="1"/>
          </p:cNvSpPr>
          <p:nvPr/>
        </p:nvSpPr>
        <p:spPr>
          <a:xfrm xmlns:a="http://schemas.openxmlformats.org/drawingml/2006/main">
            <a:off x="723900" y="4086225"/>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Am I over budget?</a:t>
            </a:r>
          </a:p>
        </p:txBody>
      </p:sp>
      <p:sp>
        <p:nvSpPr>
          <p:cNvPr id="10" name="Category limits with clear status">
            <a:extLst xmlns:a="http://schemas.openxmlformats.org/drawingml/2006/main">
              <a:ext uri="{FF2B5EF4-FFF2-40B4-BE49-F238E27FC236}">
                <a16:creationId xmlns:a16="http://schemas.microsoft.com/office/drawing/2014/main" id="{82C5A7A1-C0D5-42FB-9643-4D11A44BF332}"/>
              </a:ext>
            </a:extLst>
          </p:cNvPr>
          <p:cNvSpPr>
            <a:spLocks xmlns:a="http://schemas.openxmlformats.org/drawingml/2006/main" noGrp="1"/>
          </p:cNvSpPr>
          <p:nvPr/>
        </p:nvSpPr>
        <p:spPr>
          <a:xfrm xmlns:a="http://schemas.openxmlformats.org/drawingml/2006/main">
            <a:off x="6334125" y="408622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defRPr sz="2175" b="1">
                <a:solidFill>
                  <a:srgbClr val="008B7B"/>
                </a:solidFill>
                <a:latin typeface="Arial"/>
                <a:ea typeface="Arial"/>
                <a:cs typeface="Arial"/>
              </a:defRPr>
            </a:pPr>
            <a:r>
              <a:rPr sz="2175" b="1">
                <a:solidFill>
                  <a:srgbClr val="008B7B"/>
                </a:solidFill>
                <a:latin typeface="Arial"/>
                <a:ea typeface="Arial"/>
                <a:cs typeface="Arial"/>
              </a:rPr>
              <a:t>Category limits with clear status</a:t>
            </a:r>
          </a:p>
        </p:txBody>
      </p:sp>
      <p:sp>
        <p:nvSpPr>
          <p:cNvPr id="11" name="The amount left or over is visible.">
            <a:extLst xmlns:a="http://schemas.openxmlformats.org/drawingml/2006/main">
              <a:ext uri="{FF2B5EF4-FFF2-40B4-BE49-F238E27FC236}">
                <a16:creationId xmlns:a16="http://schemas.microsoft.com/office/drawing/2014/main" id="{B1B428B5-12CF-49A6-B64A-A3F0E5F2D55B}"/>
              </a:ext>
            </a:extLst>
          </p:cNvPr>
          <p:cNvSpPr>
            <a:spLocks xmlns:a="http://schemas.openxmlformats.org/drawingml/2006/main" noGrp="1"/>
          </p:cNvSpPr>
          <p:nvPr/>
        </p:nvSpPr>
        <p:spPr>
          <a:xfrm xmlns:a="http://schemas.openxmlformats.org/drawingml/2006/main">
            <a:off x="6334125" y="4543425"/>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defRPr sz="1725" b="0">
                <a:solidFill>
                  <a:srgbClr val="607589"/>
                </a:solidFill>
                <a:latin typeface="Arial"/>
                <a:ea typeface="Arial"/>
                <a:cs typeface="Arial"/>
              </a:defRPr>
            </a:pPr>
            <a:r>
              <a:rPr sz="1725" b="0">
                <a:solidFill>
                  <a:srgbClr val="607589"/>
                </a:solidFill>
                <a:latin typeface="Arial"/>
                <a:ea typeface="Arial"/>
                <a:cs typeface="Arial"/>
              </a:rPr>
              <a:t>The amount left or over is visible.</a:t>
            </a:r>
          </a:p>
        </p:txBody>
      </p:sp>
      <p:sp>
        <p:nvSpPr>
          <p:cNvPr id="12" name="How did the month go?">
            <a:extLst xmlns:a="http://schemas.openxmlformats.org/drawingml/2006/main">
              <a:ext uri="{FF2B5EF4-FFF2-40B4-BE49-F238E27FC236}">
                <a16:creationId xmlns:a16="http://schemas.microsoft.com/office/drawing/2014/main" id="{9CD83D6D-DB4F-4B46-A508-447C45F32904}"/>
              </a:ext>
            </a:extLst>
          </p:cNvPr>
          <p:cNvSpPr>
            <a:spLocks xmlns:a="http://schemas.openxmlformats.org/drawingml/2006/main" noGrp="1"/>
          </p:cNvSpPr>
          <p:nvPr/>
        </p:nvSpPr>
        <p:spPr>
          <a:xfrm xmlns:a="http://schemas.openxmlformats.org/drawingml/2006/main">
            <a:off x="723900" y="5086350"/>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How did the month go?</a:t>
            </a:r>
          </a:p>
        </p:txBody>
      </p:sp>
      <p:sp>
        <p:nvSpPr>
          <p:cNvPr id="13" name="A readable monthly report">
            <a:extLst xmlns:a="http://schemas.openxmlformats.org/drawingml/2006/main">
              <a:ext uri="{FF2B5EF4-FFF2-40B4-BE49-F238E27FC236}">
                <a16:creationId xmlns:a16="http://schemas.microsoft.com/office/drawing/2014/main" id="{FE24F383-EF08-489E-A98C-8CDE6A1084C1}"/>
              </a:ext>
            </a:extLst>
          </p:cNvPr>
          <p:cNvSpPr>
            <a:spLocks xmlns:a="http://schemas.openxmlformats.org/drawingml/2006/main" noGrp="1"/>
          </p:cNvSpPr>
          <p:nvPr/>
        </p:nvSpPr>
        <p:spPr>
          <a:xfrm xmlns:a="http://schemas.openxmlformats.org/drawingml/2006/main">
            <a:off x="6334125" y="508635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defRPr sz="2175" b="1">
                <a:solidFill>
                  <a:srgbClr val="008B7B"/>
                </a:solidFill>
                <a:latin typeface="Arial"/>
                <a:ea typeface="Arial"/>
                <a:cs typeface="Arial"/>
              </a:defRPr>
            </a:pPr>
            <a:r>
              <a:rPr sz="2175" b="1">
                <a:solidFill>
                  <a:srgbClr val="008B7B"/>
                </a:solidFill>
                <a:latin typeface="Arial"/>
                <a:ea typeface="Arial"/>
                <a:cs typeface="Arial"/>
              </a:rPr>
              <a:t>A readable monthly report</a:t>
            </a:r>
          </a:p>
        </p:txBody>
      </p:sp>
      <p:sp>
        <p:nvSpPr>
          <p:cNvPr id="14" name="Totals and categories explain the month.">
            <a:extLst xmlns:a="http://schemas.openxmlformats.org/drawingml/2006/main">
              <a:ext uri="{FF2B5EF4-FFF2-40B4-BE49-F238E27FC236}">
                <a16:creationId xmlns:a16="http://schemas.microsoft.com/office/drawing/2014/main" id="{94BC0F24-FFF9-4CE6-813B-B59B1820ECA6}"/>
              </a:ext>
            </a:extLst>
          </p:cNvPr>
          <p:cNvSpPr>
            <a:spLocks xmlns:a="http://schemas.openxmlformats.org/drawingml/2006/main" noGrp="1"/>
          </p:cNvSpPr>
          <p:nvPr/>
        </p:nvSpPr>
        <p:spPr>
          <a:xfrm xmlns:a="http://schemas.openxmlformats.org/drawingml/2006/main">
            <a:off x="6334125" y="55435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defRPr sz="1725" b="0">
                <a:solidFill>
                  <a:srgbClr val="607589"/>
                </a:solidFill>
                <a:latin typeface="Arial"/>
                <a:ea typeface="Arial"/>
                <a:cs typeface="Arial"/>
              </a:defRPr>
            </a:pPr>
            <a:r>
              <a:rPr sz="1725" b="0">
                <a:solidFill>
                  <a:srgbClr val="607589"/>
                </a:solidFill>
                <a:latin typeface="Arial"/>
                <a:ea typeface="Arial"/>
                <a:cs typeface="Arial"/>
              </a:rPr>
              <a:t>Totals and categories explain the month.</a:t>
            </a:r>
          </a:p>
        </p:txBody>
      </p:sp>
      <p:sp>
        <p:nvSpPr>
          <p:cNvPr id="15" name="">
            <a:extLst xmlns:a="http://schemas.openxmlformats.org/drawingml/2006/main">
              <a:ext uri="{FF2B5EF4-FFF2-40B4-BE49-F238E27FC236}">
                <a16:creationId xmlns:a16="http://schemas.microsoft.com/office/drawing/2014/main" id="{8FBBBC59-26F4-46CC-B177-11AFC44D0BC9}"/>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r>
              <a:t/>
            </a:r>
          </a:p>
        </p:txBody>
      </p:sp>
      <p:sp>
        <p:nvSpPr>
          <p:cNvPr id="16" name="04">
            <a:extLst xmlns:a="http://schemas.openxmlformats.org/drawingml/2006/main">
              <a:ext uri="{FF2B5EF4-FFF2-40B4-BE49-F238E27FC236}">
                <a16:creationId xmlns:a16="http://schemas.microsoft.com/office/drawing/2014/main" id="{1B8E2C67-CD22-4001-886B-123CD4802B24}"/>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04</a:t>
            </a:r>
          </a:p>
        </p:txBody>
      </p:sp>
    </p:spTree>
    <p:extLst>
      <p:ext uri="{BB962C8B-B14F-4D97-AF65-F5344CB8AC3E}">
        <p14:creationId xmlns:p14="http://schemas.microsoft.com/office/powerpoint/2010/main" val="1523799494"/>
      </p:ext>
    </p:extLst>
  </p:cSld>
</p:sld>
</file>

<file path=ppt/slides/slide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BF615F0-1BEE-423B-8300-AB3369A15656}"/>
              </a:ext>
            </a:extLst>
          </p:cNvPr>
          <p:cNvPicPr>
            <a:picLocks xmlns:a="http://schemas.openxmlformats.org/drawingml/2006/main" noChangeAspect="1"/>
          </p:cNvPicPr>
          <p:nvPr/>
        </p:nvPicPr>
        <p:blipFill>
          <a:blip xmlns:r="http://schemas.openxmlformats.org/officeDocument/2006/relationships" xmlns:a="http://schemas.openxmlformats.org/drawingml/2006/main" r:embed="Rba1c30f45a2c44fa"/>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7B6D2F40-E2E3-4A70-957A-069B499F4A2C}"/>
              </a:ext>
            </a:extLst>
          </p:cNvPr>
          <p:cNvPicPr>
            <a:picLocks xmlns:a="http://schemas.openxmlformats.org/drawingml/2006/main" noChangeAspect="1"/>
          </p:cNvPicPr>
          <p:nvPr/>
        </p:nvPicPr>
        <p:blipFill>
          <a:blip xmlns:r="http://schemas.openxmlformats.org/officeDocument/2006/relationships" xmlns:a="http://schemas.openxmlformats.org/drawingml/2006/main" r:embed="Rbae7395005584a29"/>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th at a glance">
            <a:extLst xmlns:a="http://schemas.openxmlformats.org/drawingml/2006/main">
              <a:ext uri="{FF2B5EF4-FFF2-40B4-BE49-F238E27FC236}">
                <a16:creationId xmlns:a16="http://schemas.microsoft.com/office/drawing/2014/main" id="{9B664F9D-EF6B-41E9-97C2-A440E74238B9}"/>
              </a:ext>
            </a:extLst>
          </p:cNvPr>
          <p:cNvSpPr>
            <a:spLocks xmlns:a="http://schemas.openxmlformats.org/drawingml/2006/main" noGrp="1"/>
          </p:cNvSpPr>
          <p:nvPr/>
        </p:nvSpPr>
        <p:spPr>
          <a:xfrm xmlns:a="http://schemas.openxmlformats.org/drawingml/2006/main">
            <a:off x="685800" y="13525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25" b="1">
                <a:solidFill>
                  <a:srgbClr val="05244B"/>
                </a:solidFill>
                <a:latin typeface="Arial"/>
                <a:ea typeface="Arial"/>
                <a:cs typeface="Arial"/>
              </a:defRPr>
            </a:defPPr>
          </a:lstStyle>
          <a:p xmlns:a="http://schemas.openxmlformats.org/drawingml/2006/main">
            <a:pPr>
              <a:buNone/>
              <a:defRPr sz="3825" b="1">
                <a:solidFill>
                  <a:srgbClr val="05244B"/>
                </a:solidFill>
                <a:latin typeface="Arial"/>
                <a:ea typeface="Arial"/>
                <a:cs typeface="Arial"/>
              </a:defRPr>
            </a:pPr>
            <a:r>
              <a:rPr sz="3825" b="1">
                <a:solidFill>
                  <a:srgbClr val="05244B"/>
                </a:solidFill>
                <a:latin typeface="Arial"/>
                <a:ea typeface="Arial"/>
                <a:cs typeface="Arial"/>
              </a:rPr>
              <a:t>Your month at a glance</a:t>
            </a:r>
          </a:p>
        </p:txBody>
      </p:sp>
      <p:sp>
        <p:nvSpPr>
          <p:cNvPr id="4" name="Income, expenses and what remains in one view.">
            <a:extLst xmlns:a="http://schemas.openxmlformats.org/drawingml/2006/main">
              <a:ext uri="{FF2B5EF4-FFF2-40B4-BE49-F238E27FC236}">
                <a16:creationId xmlns:a16="http://schemas.microsoft.com/office/drawing/2014/main" id="{0161AD80-E8C6-489C-B005-543700BA8600}"/>
              </a:ext>
            </a:extLst>
          </p:cNvPr>
          <p:cNvSpPr>
            <a:spLocks xmlns:a="http://schemas.openxmlformats.org/drawingml/2006/main" noGrp="1"/>
          </p:cNvSpPr>
          <p:nvPr/>
        </p:nvSpPr>
        <p:spPr>
          <a:xfrm xmlns:a="http://schemas.openxmlformats.org/drawingml/2006/main">
            <a:off x="723900" y="2095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Income, expenses and what remains in one view.</a:t>
            </a:r>
          </a:p>
        </p:txBody>
      </p:sp>
      <p:pic>
        <p:nvPicPr>
          <p:cNvPr id="5" name="">
            <a:extLst xmlns:a="http://schemas.openxmlformats.org/drawingml/2006/main">
              <a:ext uri="{FF2B5EF4-FFF2-40B4-BE49-F238E27FC236}">
                <a16:creationId xmlns:a16="http://schemas.microsoft.com/office/drawing/2014/main" id="{B559250E-6ABA-4221-83A6-5490D9A3499A}"/>
              </a:ext>
            </a:extLst>
          </p:cNvPr>
          <p:cNvPicPr>
            <a:picLocks xmlns:a="http://schemas.openxmlformats.org/drawingml/2006/main" noChangeAspect="1"/>
          </p:cNvPicPr>
          <p:nvPr/>
        </p:nvPicPr>
        <p:blipFill>
          <a:blip xmlns:r="http://schemas.openxmlformats.org/officeDocument/2006/relationships" xmlns:a="http://schemas.openxmlformats.org/drawingml/2006/main" r:embed="Rd8e8429b42844703"/>
          <a:stretch xmlns:a="http://schemas.openxmlformats.org/drawingml/2006/main"/>
        </p:blipFill>
        <p:spPr>
          <a:xfrm xmlns:a="http://schemas.openxmlformats.org/drawingml/2006/main">
            <a:off x="685800" y="2981325"/>
            <a:ext cx="10820400" cy="1501797"/>
          </a:xfrm>
          <a:prstGeom xmlns:a="http://schemas.openxmlformats.org/drawingml/2006/main" prst="rect">
            <a:avLst/>
          </a:prstGeom>
        </p:spPr>
      </p:pic>
      <p:sp>
        <p:nvSpPr>
          <p:cNvPr id="6" name="$2,386 left this month">
            <a:extLst xmlns:a="http://schemas.openxmlformats.org/drawingml/2006/main">
              <a:ext uri="{FF2B5EF4-FFF2-40B4-BE49-F238E27FC236}">
                <a16:creationId xmlns:a16="http://schemas.microsoft.com/office/drawing/2014/main" id="{49A8C277-9F32-4E2F-A15A-D11A44FFF49D}"/>
              </a:ext>
            </a:extLst>
          </p:cNvPr>
          <p:cNvSpPr>
            <a:spLocks xmlns:a="http://schemas.openxmlformats.org/drawingml/2006/main" noGrp="1"/>
          </p:cNvSpPr>
          <p:nvPr/>
        </p:nvSpPr>
        <p:spPr>
          <a:xfrm xmlns:a="http://schemas.openxmlformats.org/drawingml/2006/main">
            <a:off x="723900" y="500062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1">
                <a:solidFill>
                  <a:srgbClr val="008B7B"/>
                </a:solidFill>
                <a:latin typeface="Arial"/>
                <a:ea typeface="Arial"/>
                <a:cs typeface="Arial"/>
              </a:defRPr>
            </a:defPPr>
          </a:lstStyle>
          <a:p xmlns:a="http://schemas.openxmlformats.org/drawingml/2006/main">
            <a:pPr>
              <a:buNone/>
              <a:defRPr sz="2925" b="1">
                <a:solidFill>
                  <a:srgbClr val="008B7B"/>
                </a:solidFill>
                <a:latin typeface="Arial"/>
                <a:ea typeface="Arial"/>
                <a:cs typeface="Arial"/>
              </a:defRPr>
            </a:pPr>
            <a:r>
              <a:rPr sz="2925" b="1">
                <a:solidFill>
                  <a:srgbClr val="008B7B"/>
                </a:solidFill>
                <a:latin typeface="Arial"/>
                <a:ea typeface="Arial"/>
                <a:cs typeface="Arial"/>
              </a:rPr>
              <a:t>$2,386 left this month</a:t>
            </a:r>
          </a:p>
        </p:txBody>
      </p:sp>
      <p:sp>
        <p:nvSpPr>
          <p:cNvPr id="7" name="In this example: $5,250 income minus $2,864 expenses.">
            <a:extLst xmlns:a="http://schemas.openxmlformats.org/drawingml/2006/main">
              <a:ext uri="{FF2B5EF4-FFF2-40B4-BE49-F238E27FC236}">
                <a16:creationId xmlns:a16="http://schemas.microsoft.com/office/drawing/2014/main" id="{A6F1294C-24F1-4267-8EBF-0820E2D89957}"/>
              </a:ext>
            </a:extLst>
          </p:cNvPr>
          <p:cNvSpPr>
            <a:spLocks xmlns:a="http://schemas.openxmlformats.org/drawingml/2006/main" noGrp="1"/>
          </p:cNvSpPr>
          <p:nvPr/>
        </p:nvSpPr>
        <p:spPr>
          <a:xfrm xmlns:a="http://schemas.openxmlformats.org/drawingml/2006/main">
            <a:off x="723900" y="55911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607589"/>
                </a:solidFill>
                <a:latin typeface="Arial"/>
                <a:ea typeface="Arial"/>
                <a:cs typeface="Arial"/>
              </a:defRPr>
            </a:defPPr>
          </a:lstStyle>
          <a:p xmlns:a="http://schemas.openxmlformats.org/drawingml/2006/main">
            <a:pPr>
              <a:buNone/>
              <a:defRPr sz="1875" b="0">
                <a:solidFill>
                  <a:srgbClr val="607589"/>
                </a:solidFill>
                <a:latin typeface="Arial"/>
                <a:ea typeface="Arial"/>
                <a:cs typeface="Arial"/>
              </a:defRPr>
            </a:pPr>
            <a:r>
              <a:rPr sz="1875" b="0">
                <a:solidFill>
                  <a:srgbClr val="607589"/>
                </a:solidFill>
                <a:latin typeface="Arial"/>
                <a:ea typeface="Arial"/>
                <a:cs typeface="Arial"/>
              </a:rPr>
              <a:t>In this example: $5,250 income minus $2,864 expenses.</a:t>
            </a:r>
          </a:p>
        </p:txBody>
      </p:sp>
      <p:sp>
        <p:nvSpPr>
          <p:cNvPr id="8" name="Prototype view   /   Fictional October 2026 data in USD">
            <a:extLst xmlns:a="http://schemas.openxmlformats.org/drawingml/2006/main">
              <a:ext uri="{FF2B5EF4-FFF2-40B4-BE49-F238E27FC236}">
                <a16:creationId xmlns:a16="http://schemas.microsoft.com/office/drawing/2014/main" id="{D3FE5716-5A40-4CA9-96FA-8E85A08ECDDE}"/>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9" name="03">
            <a:extLst xmlns:a="http://schemas.openxmlformats.org/drawingml/2006/main">
              <a:ext uri="{FF2B5EF4-FFF2-40B4-BE49-F238E27FC236}">
                <a16:creationId xmlns:a16="http://schemas.microsoft.com/office/drawing/2014/main" id="{18A62F67-6FE9-4DCC-A65B-F26872E65468}"/>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05</a:t>
            </a:r>
          </a:p>
        </p:txBody>
      </p:sp>
    </p:spTree>
    <p:extLst>
      <p:ext uri="{BB962C8B-B14F-4D97-AF65-F5344CB8AC3E}">
        <p14:creationId xmlns:p14="http://schemas.microsoft.com/office/powerpoint/2010/main" val="708699459"/>
      </p:ext>
    </p:extLst>
  </p:cSld>
</p:sld>
</file>

<file path=ppt/slides/slide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C69D328-C3D8-4E7F-AC79-26EE46649C00}"/>
              </a:ext>
            </a:extLst>
          </p:cNvPr>
          <p:cNvPicPr>
            <a:picLocks xmlns:a="http://schemas.openxmlformats.org/drawingml/2006/main" noChangeAspect="1"/>
          </p:cNvPicPr>
          <p:nvPr/>
        </p:nvPicPr>
        <p:blipFill>
          <a:blip xmlns:r="http://schemas.openxmlformats.org/officeDocument/2006/relationships" xmlns:a="http://schemas.openxmlformats.org/drawingml/2006/main" r:embed="R411ff9d210be41ba"/>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42D022FC-9DB9-4FD2-A62B-9A818A66C07F}"/>
              </a:ext>
            </a:extLst>
          </p:cNvPr>
          <p:cNvPicPr>
            <a:picLocks xmlns:a="http://schemas.openxmlformats.org/drawingml/2006/main" noChangeAspect="1"/>
          </p:cNvPicPr>
          <p:nvPr/>
        </p:nvPicPr>
        <p:blipFill>
          <a:blip xmlns:r="http://schemas.openxmlformats.org/officeDocument/2006/relationships" xmlns:a="http://schemas.openxmlformats.org/drawingml/2006/main" r:embed="R31a150b80891466d"/>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Every transaction, easy to find">
            <a:extLst xmlns:a="http://schemas.openxmlformats.org/drawingml/2006/main">
              <a:ext uri="{FF2B5EF4-FFF2-40B4-BE49-F238E27FC236}">
                <a16:creationId xmlns:a16="http://schemas.microsoft.com/office/drawing/2014/main" id="{605D89CB-89F5-4E98-9911-14B10AAEA83C}"/>
              </a:ext>
            </a:extLst>
          </p:cNvPr>
          <p:cNvSpPr>
            <a:spLocks xmlns:a="http://schemas.openxmlformats.org/drawingml/2006/main" noGrp="1"/>
          </p:cNvSpPr>
          <p:nvPr/>
        </p:nvSpPr>
        <p:spPr>
          <a:xfrm xmlns:a="http://schemas.openxmlformats.org/drawingml/2006/main">
            <a:off x="685800" y="1333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1">
                <a:solidFill>
                  <a:srgbClr val="05244B"/>
                </a:solidFill>
                <a:latin typeface="Arial"/>
                <a:ea typeface="Arial"/>
                <a:cs typeface="Arial"/>
              </a:defRPr>
            </a:defPPr>
          </a:lstStyle>
          <a:p xmlns:a="http://schemas.openxmlformats.org/drawingml/2006/main">
            <a:pPr>
              <a:buNone/>
              <a:defRPr sz="3600" b="1">
                <a:solidFill>
                  <a:srgbClr val="05244B"/>
                </a:solidFill>
                <a:latin typeface="Arial"/>
                <a:ea typeface="Arial"/>
                <a:cs typeface="Arial"/>
              </a:defRPr>
            </a:pPr>
            <a:r>
              <a:rPr sz="3600" b="1">
                <a:solidFill>
                  <a:srgbClr val="05244B"/>
                </a:solidFill>
                <a:latin typeface="Arial"/>
                <a:ea typeface="Arial"/>
                <a:cs typeface="Arial"/>
              </a:rPr>
              <a:t>Every transaction, easy to find</a:t>
            </a:r>
          </a:p>
        </p:txBody>
      </p:sp>
      <p:sp>
        <p:nvSpPr>
          <p:cNvPr id="4" name="Record income or spending. Filter by month, type or category.">
            <a:extLst xmlns:a="http://schemas.openxmlformats.org/drawingml/2006/main">
              <a:ext uri="{FF2B5EF4-FFF2-40B4-BE49-F238E27FC236}">
                <a16:creationId xmlns:a16="http://schemas.microsoft.com/office/drawing/2014/main" id="{F4D6AECF-E702-4C25-B54B-2519D5169973}"/>
              </a:ext>
            </a:extLst>
          </p:cNvPr>
          <p:cNvSpPr>
            <a:spLocks xmlns:a="http://schemas.openxmlformats.org/drawingml/2006/main" noGrp="1"/>
          </p:cNvSpPr>
          <p:nvPr/>
        </p:nvSpPr>
        <p:spPr>
          <a:xfrm xmlns:a="http://schemas.openxmlformats.org/drawingml/2006/main">
            <a:off x="723900" y="20193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buNone/>
              <a:defRPr sz="1950" b="0">
                <a:solidFill>
                  <a:srgbClr val="607589"/>
                </a:solidFill>
                <a:latin typeface="Arial"/>
                <a:ea typeface="Arial"/>
                <a:cs typeface="Arial"/>
              </a:defRPr>
            </a:pPr>
            <a:r>
              <a:rPr sz="1950" b="0">
                <a:solidFill>
                  <a:srgbClr val="607589"/>
                </a:solidFill>
                <a:latin typeface="Arial"/>
                <a:ea typeface="Arial"/>
                <a:cs typeface="Arial"/>
              </a:rPr>
              <a:t>Record income or spending. Filter by month, type or category.</a:t>
            </a:r>
          </a:p>
        </p:txBody>
      </p:sp>
      <p:pic>
        <p:nvPicPr>
          <p:cNvPr id="5" name="">
            <a:extLst xmlns:a="http://schemas.openxmlformats.org/drawingml/2006/main">
              <a:ext uri="{FF2B5EF4-FFF2-40B4-BE49-F238E27FC236}">
                <a16:creationId xmlns:a16="http://schemas.microsoft.com/office/drawing/2014/main" id="{178B25AB-B9DA-44E2-9666-362284FB8985}"/>
              </a:ext>
            </a:extLst>
          </p:cNvPr>
          <p:cNvPicPr>
            <a:picLocks xmlns:a="http://schemas.openxmlformats.org/drawingml/2006/main" noChangeAspect="1"/>
          </p:cNvPicPr>
          <p:nvPr/>
        </p:nvPicPr>
        <p:blipFill>
          <a:blip xmlns:r="http://schemas.openxmlformats.org/officeDocument/2006/relationships" xmlns:a="http://schemas.openxmlformats.org/drawingml/2006/main" r:embed="R96eca3bc5192436e"/>
          <a:stretch xmlns:a="http://schemas.openxmlformats.org/drawingml/2006/main"/>
        </p:blipFill>
        <p:spPr>
          <a:xfrm xmlns:a="http://schemas.openxmlformats.org/drawingml/2006/main">
            <a:off x="1850858" y="2600325"/>
            <a:ext cx="8490284" cy="3476625"/>
          </a:xfrm>
          <a:prstGeom xmlns:a="http://schemas.openxmlformats.org/drawingml/2006/main" prst="rect">
            <a:avLst/>
          </a:prstGeom>
        </p:spPr>
      </p:pic>
      <p:sp>
        <p:nvSpPr>
          <p:cNvPr id="6" name="Prototype view   /   Fictional sample data in USD">
            <a:extLst xmlns:a="http://schemas.openxmlformats.org/drawingml/2006/main">
              <a:ext uri="{FF2B5EF4-FFF2-40B4-BE49-F238E27FC236}">
                <a16:creationId xmlns:a16="http://schemas.microsoft.com/office/drawing/2014/main" id="{116A6F5C-4A9D-4B96-AF11-261006631D1A}"/>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7" name="04">
            <a:extLst xmlns:a="http://schemas.openxmlformats.org/drawingml/2006/main">
              <a:ext uri="{FF2B5EF4-FFF2-40B4-BE49-F238E27FC236}">
                <a16:creationId xmlns:a16="http://schemas.microsoft.com/office/drawing/2014/main" id="{85E562EF-8FD9-46B4-989D-60B9C0C1FEF2}"/>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06</a:t>
            </a:r>
          </a:p>
        </p:txBody>
      </p:sp>
    </p:spTree>
    <p:extLst>
      <p:ext uri="{BB962C8B-B14F-4D97-AF65-F5344CB8AC3E}">
        <p14:creationId xmlns:p14="http://schemas.microsoft.com/office/powerpoint/2010/main" val="304015444"/>
      </p:ext>
    </p:extLst>
  </p:cSld>
</p:sld>
</file>

<file path=ppt/slides/slide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81B040B-13A8-4CE0-AA3F-2F627DD0582C}"/>
              </a:ext>
            </a:extLst>
          </p:cNvPr>
          <p:cNvPicPr>
            <a:picLocks xmlns:a="http://schemas.openxmlformats.org/drawingml/2006/main" noChangeAspect="1"/>
          </p:cNvPicPr>
          <p:nvPr/>
        </p:nvPicPr>
        <p:blipFill>
          <a:blip xmlns:r="http://schemas.openxmlformats.org/officeDocument/2006/relationships" xmlns:a="http://schemas.openxmlformats.org/drawingml/2006/main" r:embed="R1f2d2ff3f2e44b45"/>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73D56B5-871E-49AA-8C5A-E2635C64750B}"/>
              </a:ext>
            </a:extLst>
          </p:cNvPr>
          <p:cNvPicPr>
            <a:picLocks xmlns:a="http://schemas.openxmlformats.org/drawingml/2006/main" noChangeAspect="1"/>
          </p:cNvPicPr>
          <p:nvPr/>
        </p:nvPicPr>
        <p:blipFill>
          <a:blip xmlns:r="http://schemas.openxmlformats.org/officeDocument/2006/relationships" xmlns:a="http://schemas.openxmlformats.org/drawingml/2006/main" r:embed="R58896549c1684989"/>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Budget limits with context">
            <a:extLst xmlns:a="http://schemas.openxmlformats.org/drawingml/2006/main">
              <a:ext uri="{FF2B5EF4-FFF2-40B4-BE49-F238E27FC236}">
                <a16:creationId xmlns:a16="http://schemas.microsoft.com/office/drawing/2014/main" id="{7F5D0F98-A64F-4C56-AC41-812B6D3840CE}"/>
              </a:ext>
            </a:extLst>
          </p:cNvPr>
          <p:cNvSpPr>
            <a:spLocks xmlns:a="http://schemas.openxmlformats.org/drawingml/2006/main" noGrp="1"/>
          </p:cNvSpPr>
          <p:nvPr/>
        </p:nvSpPr>
        <p:spPr>
          <a:xfrm xmlns:a="http://schemas.openxmlformats.org/drawingml/2006/main">
            <a:off x="685800" y="1304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750" b="1">
                <a:solidFill>
                  <a:srgbClr val="05244B"/>
                </a:solidFill>
                <a:latin typeface="Arial"/>
                <a:ea typeface="Arial"/>
                <a:cs typeface="Arial"/>
              </a:defRPr>
            </a:defPPr>
          </a:lstStyle>
          <a:p xmlns:a="http://schemas.openxmlformats.org/drawingml/2006/main">
            <a:pPr>
              <a:buNone/>
              <a:defRPr sz="3750" b="1">
                <a:solidFill>
                  <a:srgbClr val="05244B"/>
                </a:solidFill>
                <a:latin typeface="Arial"/>
                <a:ea typeface="Arial"/>
                <a:cs typeface="Arial"/>
              </a:defRPr>
            </a:pPr>
            <a:r>
              <a:rPr sz="3750" b="1">
                <a:solidFill>
                  <a:srgbClr val="05244B"/>
                </a:solidFill>
                <a:latin typeface="Arial"/>
                <a:ea typeface="Arial"/>
                <a:cs typeface="Arial"/>
              </a:rPr>
              <a:t>Am I staying within my budget?</a:t>
            </a:r>
          </a:p>
        </p:txBody>
      </p:sp>
      <p:sp>
        <p:nvSpPr>
          <p:cNvPr id="4" name="A monthly limit for&#10;each spending category">
            <a:extLst xmlns:a="http://schemas.openxmlformats.org/drawingml/2006/main">
              <a:ext uri="{FF2B5EF4-FFF2-40B4-BE49-F238E27FC236}">
                <a16:creationId xmlns:a16="http://schemas.microsoft.com/office/drawing/2014/main" id="{100F0809-0F83-4772-B4D8-704952AF2763}"/>
              </a:ext>
            </a:extLst>
          </p:cNvPr>
          <p:cNvSpPr>
            <a:spLocks xmlns:a="http://schemas.openxmlformats.org/drawingml/2006/main" noGrp="1"/>
          </p:cNvSpPr>
          <p:nvPr/>
        </p:nvSpPr>
        <p:spPr>
          <a:xfrm xmlns:a="http://schemas.openxmlformats.org/drawingml/2006/main">
            <a:off x="723900" y="23622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550" b="1">
                <a:solidFill>
                  <a:srgbClr val="05244B"/>
                </a:solidFill>
                <a:latin typeface="Arial"/>
                <a:ea typeface="Arial"/>
                <a:cs typeface="Arial"/>
              </a:defRPr>
            </a:defPPr>
          </a:lstStyle>
          <a:p xmlns:a="http://schemas.openxmlformats.org/drawingml/2006/main">
            <a:pPr>
              <a:buNone/>
              <a:defRPr sz="2550" b="1">
                <a:solidFill>
                  <a:srgbClr val="05244B"/>
                </a:solidFill>
                <a:latin typeface="Arial"/>
                <a:ea typeface="Arial"/>
                <a:cs typeface="Arial"/>
              </a:defRPr>
            </a:pPr>
            <a:r>
              <a:rPr sz="2550" b="1">
                <a:solidFill>
                  <a:srgbClr val="05244B"/>
                </a:solidFill>
                <a:latin typeface="Arial"/>
                <a:ea typeface="Arial"/>
                <a:cs typeface="Arial"/>
              </a:rPr>
              <a:t>A monthly limit for</a:t>
            </a:r>
          </a:p>
          <a:p xmlns:a="http://schemas.openxmlformats.org/drawingml/2006/main">
            <a:pPr>
              <a:buNone/>
              <a:defRPr sz="2550" b="1">
                <a:solidFill>
                  <a:srgbClr val="05244B"/>
                </a:solidFill>
                <a:latin typeface="Arial"/>
                <a:ea typeface="Arial"/>
                <a:cs typeface="Arial"/>
              </a:defRPr>
            </a:pPr>
            <a:r>
              <a:rPr sz="2550" b="1">
                <a:solidFill>
                  <a:srgbClr val="05244B"/>
                </a:solidFill>
                <a:latin typeface="Arial"/>
                <a:ea typeface="Arial"/>
                <a:cs typeface="Arial"/>
              </a:rPr>
              <a:t>each spending category</a:t>
            </a:r>
          </a:p>
        </p:txBody>
      </p:sp>
      <p:sp>
        <p:nvSpPr>
          <p:cNvPr id="5" name="Finora shows when spending&#10;is near a limit or over it.">
            <a:extLst xmlns:a="http://schemas.openxmlformats.org/drawingml/2006/main">
              <a:ext uri="{FF2B5EF4-FFF2-40B4-BE49-F238E27FC236}">
                <a16:creationId xmlns:a16="http://schemas.microsoft.com/office/drawing/2014/main" id="{36CF249B-1D16-4A60-9988-EC0353FC73B3}"/>
              </a:ext>
            </a:extLst>
          </p:cNvPr>
          <p:cNvSpPr>
            <a:spLocks xmlns:a="http://schemas.openxmlformats.org/drawingml/2006/main" noGrp="1"/>
          </p:cNvSpPr>
          <p:nvPr/>
        </p:nvSpPr>
        <p:spPr>
          <a:xfrm xmlns:a="http://schemas.openxmlformats.org/drawingml/2006/main">
            <a:off x="723900" y="3476625"/>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Finora shows when spending</a:t>
            </a:r>
          </a:p>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is near a limit or over it.</a:t>
            </a:r>
          </a:p>
        </p:txBody>
      </p:sp>
      <p:sp>
        <p:nvSpPr>
          <p:cNvPr id="6" name="$25 over">
            <a:extLst xmlns:a="http://schemas.openxmlformats.org/drawingml/2006/main">
              <a:ext uri="{FF2B5EF4-FFF2-40B4-BE49-F238E27FC236}">
                <a16:creationId xmlns:a16="http://schemas.microsoft.com/office/drawing/2014/main" id="{51AB9711-ABCE-4978-BB12-1388ACC5F36F}"/>
              </a:ext>
            </a:extLst>
          </p:cNvPr>
          <p:cNvSpPr>
            <a:spLocks xmlns:a="http://schemas.openxmlformats.org/drawingml/2006/main" noGrp="1"/>
          </p:cNvSpPr>
          <p:nvPr/>
        </p:nvSpPr>
        <p:spPr>
          <a:xfrm xmlns:a="http://schemas.openxmlformats.org/drawingml/2006/main">
            <a:off x="723900" y="4705350"/>
            <a:ext cx="5048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500" b="1">
                <a:solidFill>
                  <a:srgbClr val="BA6B55"/>
                </a:solidFill>
                <a:latin typeface="Arial"/>
                <a:ea typeface="Arial"/>
                <a:cs typeface="Arial"/>
              </a:defRPr>
            </a:defPPr>
          </a:lstStyle>
          <a:p xmlns:a="http://schemas.openxmlformats.org/drawingml/2006/main">
            <a:pPr>
              <a:buNone/>
              <a:defRPr sz="4500" b="1">
                <a:solidFill>
                  <a:srgbClr val="BA6B55"/>
                </a:solidFill>
                <a:latin typeface="Arial"/>
                <a:ea typeface="Arial"/>
                <a:cs typeface="Arial"/>
              </a:defRPr>
            </a:pPr>
            <a:r>
              <a:rPr sz="4500" b="1">
                <a:solidFill>
                  <a:srgbClr val="BA6B55"/>
                </a:solidFill>
                <a:latin typeface="Arial"/>
                <a:ea typeface="Arial"/>
                <a:cs typeface="Arial"/>
              </a:rPr>
              <a:t>$25 over</a:t>
            </a:r>
          </a:p>
        </p:txBody>
      </p:sp>
      <p:sp>
        <p:nvSpPr>
          <p:cNvPr id="7" name="Entertainment: $225 spent&#10;against a $200 budget.">
            <a:extLst xmlns:a="http://schemas.openxmlformats.org/drawingml/2006/main">
              <a:ext uri="{FF2B5EF4-FFF2-40B4-BE49-F238E27FC236}">
                <a16:creationId xmlns:a16="http://schemas.microsoft.com/office/drawing/2014/main" id="{DEF5CD3C-801B-4AC3-9D34-A07A82B401FD}"/>
              </a:ext>
            </a:extLst>
          </p:cNvPr>
          <p:cNvSpPr>
            <a:spLocks xmlns:a="http://schemas.openxmlformats.org/drawingml/2006/main" noGrp="1"/>
          </p:cNvSpPr>
          <p:nvPr/>
        </p:nvSpPr>
        <p:spPr>
          <a:xfrm xmlns:a="http://schemas.openxmlformats.org/drawingml/2006/main">
            <a:off x="723900" y="5476875"/>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Entertainment: $225 spent</a:t>
            </a:r>
          </a:p>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against a $200 budget.</a:t>
            </a:r>
          </a:p>
        </p:txBody>
      </p:sp>
      <p:pic>
        <p:nvPicPr>
          <p:cNvPr id="8" name="">
            <a:extLst xmlns:a="http://schemas.openxmlformats.org/drawingml/2006/main">
              <a:ext uri="{FF2B5EF4-FFF2-40B4-BE49-F238E27FC236}">
                <a16:creationId xmlns:a16="http://schemas.microsoft.com/office/drawing/2014/main" id="{F06FCB83-6F32-43A9-91CE-AADB78ECFB47}"/>
              </a:ext>
            </a:extLst>
          </p:cNvPr>
          <p:cNvPicPr>
            <a:picLocks xmlns:a="http://schemas.openxmlformats.org/drawingml/2006/main" noChangeAspect="1"/>
          </p:cNvPicPr>
          <p:nvPr/>
        </p:nvPicPr>
        <p:blipFill>
          <a:blip xmlns:r="http://schemas.openxmlformats.org/officeDocument/2006/relationships" xmlns:a="http://schemas.openxmlformats.org/drawingml/2006/main" r:embed="Reb7f8c4769644164"/>
          <a:stretch xmlns:a="http://schemas.openxmlformats.org/drawingml/2006/main"/>
        </p:blipFill>
        <p:spPr>
          <a:xfrm xmlns:a="http://schemas.openxmlformats.org/drawingml/2006/main">
            <a:off x="6572250" y="2143125"/>
            <a:ext cx="4667250" cy="3868905"/>
          </a:xfrm>
          <a:prstGeom xmlns:a="http://schemas.openxmlformats.org/drawingml/2006/main" prst="rect">
            <a:avLst/>
          </a:prstGeom>
        </p:spPr>
      </p:pic>
      <p:sp>
        <p:nvSpPr>
          <p:cNvPr id="9" name="Prototype view   /   Fictional sample data in USD">
            <a:extLst xmlns:a="http://schemas.openxmlformats.org/drawingml/2006/main">
              <a:ext uri="{FF2B5EF4-FFF2-40B4-BE49-F238E27FC236}">
                <a16:creationId xmlns:a16="http://schemas.microsoft.com/office/drawing/2014/main" id="{5401FE53-9CFA-4DA6-9F10-B0FE1F14D0C4}"/>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10" name="05">
            <a:extLst xmlns:a="http://schemas.openxmlformats.org/drawingml/2006/main">
              <a:ext uri="{FF2B5EF4-FFF2-40B4-BE49-F238E27FC236}">
                <a16:creationId xmlns:a16="http://schemas.microsoft.com/office/drawing/2014/main" id="{EB8AFEC0-F4CD-42D7-A250-E1F39FD8B57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07</a:t>
            </a:r>
          </a:p>
        </p:txBody>
      </p:sp>
    </p:spTree>
    <p:extLst>
      <p:ext uri="{BB962C8B-B14F-4D97-AF65-F5344CB8AC3E}">
        <p14:creationId xmlns:p14="http://schemas.microsoft.com/office/powerpoint/2010/main" val="486844490"/>
      </p:ext>
    </p:extLst>
  </p:cSld>
</p:sld>
</file>

<file path=ppt/slides/slide8.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028BF4A-114F-45D7-A374-AF31BEB0D2A3}"/>
              </a:ext>
            </a:extLst>
          </p:cNvPr>
          <p:cNvPicPr>
            <a:picLocks xmlns:a="http://schemas.openxmlformats.org/drawingml/2006/main" noChangeAspect="1"/>
          </p:cNvPicPr>
          <p:nvPr/>
        </p:nvPicPr>
        <p:blipFill>
          <a:blip xmlns:r="http://schemas.openxmlformats.org/officeDocument/2006/relationships" xmlns:a="http://schemas.openxmlformats.org/drawingml/2006/main" r:embed="R5ab5cc6464534f75"/>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DA24DBD2-19E3-4D43-87A2-6ED5DD737980}"/>
              </a:ext>
            </a:extLst>
          </p:cNvPr>
          <p:cNvPicPr>
            <a:picLocks xmlns:a="http://schemas.openxmlformats.org/drawingml/2006/main" noChangeAspect="1"/>
          </p:cNvPicPr>
          <p:nvPr/>
        </p:nvPicPr>
        <p:blipFill>
          <a:blip xmlns:r="http://schemas.openxmlformats.org/officeDocument/2006/relationships" xmlns:a="http://schemas.openxmlformats.org/drawingml/2006/main" r:embed="Ra475cf58fac64e9f"/>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monthly report you can understand">
            <a:extLst xmlns:a="http://schemas.openxmlformats.org/drawingml/2006/main">
              <a:ext uri="{FF2B5EF4-FFF2-40B4-BE49-F238E27FC236}">
                <a16:creationId xmlns:a16="http://schemas.microsoft.com/office/drawing/2014/main" id="{AC630ABF-7FD9-4062-AF3D-D515E114B007}"/>
              </a:ext>
            </a:extLst>
          </p:cNvPr>
          <p:cNvSpPr>
            <a:spLocks xmlns:a="http://schemas.openxmlformats.org/drawingml/2006/main" noGrp="1"/>
          </p:cNvSpPr>
          <p:nvPr/>
        </p:nvSpPr>
        <p:spPr>
          <a:xfrm xmlns:a="http://schemas.openxmlformats.org/drawingml/2006/main">
            <a:off x="685800" y="13335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05244B"/>
                </a:solidFill>
                <a:latin typeface="Arial"/>
                <a:ea typeface="Arial"/>
                <a:cs typeface="Arial"/>
              </a:defRPr>
            </a:defPPr>
          </a:lstStyle>
          <a:p xmlns:a="http://schemas.openxmlformats.org/drawingml/2006/main">
            <a:pPr>
              <a:buNone/>
              <a:defRPr sz="3300" b="1">
                <a:solidFill>
                  <a:srgbClr val="05244B"/>
                </a:solidFill>
                <a:latin typeface="Arial"/>
                <a:ea typeface="Arial"/>
                <a:cs typeface="Arial"/>
              </a:defRPr>
            </a:pPr>
            <a:r>
              <a:rPr sz="3300" b="1">
                <a:solidFill>
                  <a:srgbClr val="05244B"/>
                </a:solidFill>
                <a:latin typeface="Arial"/>
                <a:ea typeface="Arial"/>
                <a:cs typeface="Arial"/>
              </a:rPr>
              <a:t>What can I learn from this month?</a:t>
            </a:r>
          </a:p>
        </p:txBody>
      </p:sp>
      <p:sp>
        <p:nvSpPr>
          <p:cNvPr id="4" name="A category breakdown explains where the money went.">
            <a:extLst xmlns:a="http://schemas.openxmlformats.org/drawingml/2006/main">
              <a:ext uri="{FF2B5EF4-FFF2-40B4-BE49-F238E27FC236}">
                <a16:creationId xmlns:a16="http://schemas.microsoft.com/office/drawing/2014/main" id="{43F7F7F2-570C-4915-ADC6-27B30A814F23}"/>
              </a:ext>
            </a:extLst>
          </p:cNvPr>
          <p:cNvSpPr>
            <a:spLocks xmlns:a="http://schemas.openxmlformats.org/drawingml/2006/main" noGrp="1"/>
          </p:cNvSpPr>
          <p:nvPr/>
        </p:nvSpPr>
        <p:spPr>
          <a:xfrm xmlns:a="http://schemas.openxmlformats.org/drawingml/2006/main">
            <a:off x="723900" y="2085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A category breakdown explains where the money went.</a:t>
            </a:r>
          </a:p>
        </p:txBody>
      </p:sp>
      <p:pic>
        <p:nvPicPr>
          <p:cNvPr id="5" name="">
            <a:extLst xmlns:a="http://schemas.openxmlformats.org/drawingml/2006/main">
              <a:ext uri="{FF2B5EF4-FFF2-40B4-BE49-F238E27FC236}">
                <a16:creationId xmlns:a16="http://schemas.microsoft.com/office/drawing/2014/main" id="{0C00EFE4-871B-4049-A289-C573E64650AC}"/>
              </a:ext>
            </a:extLst>
          </p:cNvPr>
          <p:cNvPicPr>
            <a:picLocks xmlns:a="http://schemas.openxmlformats.org/drawingml/2006/main" noChangeAspect="1"/>
          </p:cNvPicPr>
          <p:nvPr/>
        </p:nvPicPr>
        <p:blipFill>
          <a:blip xmlns:r="http://schemas.openxmlformats.org/officeDocument/2006/relationships" xmlns:a="http://schemas.openxmlformats.org/drawingml/2006/main" r:embed="R3874aa5378664ebc"/>
          <a:stretch xmlns:a="http://schemas.openxmlformats.org/drawingml/2006/main"/>
        </p:blipFill>
        <p:spPr>
          <a:xfrm xmlns:a="http://schemas.openxmlformats.org/drawingml/2006/main">
            <a:off x="685800" y="2686050"/>
            <a:ext cx="10820400" cy="2910314"/>
          </a:xfrm>
          <a:prstGeom xmlns:a="http://schemas.openxmlformats.org/drawingml/2006/main" prst="rect">
            <a:avLst/>
          </a:prstGeom>
        </p:spPr>
      </p:pic>
      <p:sp>
        <p:nvSpPr>
          <p:cNvPr id="6" name="Housing accounts for 48.9% of this example’s spending.">
            <a:extLst xmlns:a="http://schemas.openxmlformats.org/drawingml/2006/main">
              <a:ext uri="{FF2B5EF4-FFF2-40B4-BE49-F238E27FC236}">
                <a16:creationId xmlns:a16="http://schemas.microsoft.com/office/drawing/2014/main" id="{563EBD00-494E-4DEA-8D1D-B795D3F7EE1E}"/>
              </a:ext>
            </a:extLst>
          </p:cNvPr>
          <p:cNvSpPr>
            <a:spLocks xmlns:a="http://schemas.openxmlformats.org/drawingml/2006/main" noGrp="1"/>
          </p:cNvSpPr>
          <p:nvPr/>
        </p:nvSpPr>
        <p:spPr>
          <a:xfrm xmlns:a="http://schemas.openxmlformats.org/drawingml/2006/main">
            <a:off x="723900" y="58483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08B7B"/>
                </a:solidFill>
                <a:latin typeface="Arial"/>
                <a:ea typeface="Arial"/>
                <a:cs typeface="Arial"/>
              </a:defRPr>
            </a:defPPr>
          </a:lstStyle>
          <a:p xmlns:a="http://schemas.openxmlformats.org/drawingml/2006/main">
            <a:pPr>
              <a:buNone/>
              <a:defRPr sz="1950" b="1">
                <a:solidFill>
                  <a:srgbClr val="008B7B"/>
                </a:solidFill>
                <a:latin typeface="Arial"/>
                <a:ea typeface="Arial"/>
                <a:cs typeface="Arial"/>
              </a:defRPr>
            </a:pPr>
            <a:r>
              <a:rPr sz="1950" b="1">
                <a:solidFill>
                  <a:srgbClr val="008B7B"/>
                </a:solidFill>
                <a:latin typeface="Arial"/>
                <a:ea typeface="Arial"/>
                <a:cs typeface="Arial"/>
              </a:rPr>
              <a:t>Housing accounts for 48.9% of this example’s spending.</a:t>
            </a:r>
          </a:p>
        </p:txBody>
      </p:sp>
      <p:sp>
        <p:nvSpPr>
          <p:cNvPr id="7" name="Prototype view   /   Fictional October 2026 data in USD">
            <a:extLst xmlns:a="http://schemas.openxmlformats.org/drawingml/2006/main">
              <a:ext uri="{FF2B5EF4-FFF2-40B4-BE49-F238E27FC236}">
                <a16:creationId xmlns:a16="http://schemas.microsoft.com/office/drawing/2014/main" id="{936961B3-5C58-4F5A-BF1A-3A74DF0C7E27}"/>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8" name="06">
            <a:extLst xmlns:a="http://schemas.openxmlformats.org/drawingml/2006/main">
              <a:ext uri="{FF2B5EF4-FFF2-40B4-BE49-F238E27FC236}">
                <a16:creationId xmlns:a16="http://schemas.microsoft.com/office/drawing/2014/main" id="{765C3B72-E6A1-47FA-B553-0FA24B22E518}"/>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08</a:t>
            </a:r>
          </a:p>
        </p:txBody>
      </p:sp>
    </p:spTree>
    <p:extLst>
      <p:ext uri="{BB962C8B-B14F-4D97-AF65-F5344CB8AC3E}">
        <p14:creationId xmlns:p14="http://schemas.microsoft.com/office/powerpoint/2010/main" val="1969697780"/>
      </p:ext>
    </p:extLst>
  </p:cSld>
</p:sld>
</file>

<file path=ppt/slides/slide9.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A77924B5-0AA1-4076-B6A3-F1B8333DC1CE}"/>
              </a:ext>
            </a:extLst>
          </p:cNvPr>
          <p:cNvPicPr>
            <a:picLocks xmlns:a="http://schemas.openxmlformats.org/drawingml/2006/main" noChangeAspect="1"/>
          </p:cNvPicPr>
          <p:nvPr/>
        </p:nvPicPr>
        <p:blipFill>
          <a:blip xmlns:r="http://schemas.openxmlformats.org/officeDocument/2006/relationships" xmlns:a="http://schemas.openxmlformats.org/drawingml/2006/main" r:embed="R556c669a721d440f"/>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3E9F9BB-5465-436E-9453-0D6E8292AB03}"/>
              </a:ext>
            </a:extLst>
          </p:cNvPr>
          <p:cNvPicPr>
            <a:picLocks xmlns:a="http://schemas.openxmlformats.org/drawingml/2006/main" noChangeAspect="1"/>
          </p:cNvPicPr>
          <p:nvPr/>
        </p:nvPicPr>
        <p:blipFill>
          <a:blip xmlns:r="http://schemas.openxmlformats.org/officeDocument/2006/relationships" xmlns:a="http://schemas.openxmlformats.org/drawingml/2006/main" r:embed="R65df1507d47c4a5d"/>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Why choose Finora?">
            <a:extLst xmlns:a="http://schemas.openxmlformats.org/drawingml/2006/main">
              <a:ext uri="{FF2B5EF4-FFF2-40B4-BE49-F238E27FC236}">
                <a16:creationId xmlns:a16="http://schemas.microsoft.com/office/drawing/2014/main" id="{9B5104DD-9799-42D3-87D6-B8F6CEBA73FF}"/>
              </a:ext>
            </a:extLst>
          </p:cNvPr>
          <p:cNvSpPr>
            <a:spLocks xmlns:a="http://schemas.openxmlformats.org/drawingml/2006/main" noGrp="1"/>
          </p:cNvSpPr>
          <p:nvPr/>
        </p:nvSpPr>
        <p:spPr>
          <a:xfrm xmlns:a="http://schemas.openxmlformats.org/drawingml/2006/main">
            <a:off x="685800" y="1352550"/>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050" b="1">
                <a:solidFill>
                  <a:srgbClr val="05244B"/>
                </a:solidFill>
                <a:latin typeface="Arial"/>
                <a:ea typeface="Arial"/>
                <a:cs typeface="Arial"/>
              </a:defRPr>
            </a:defPPr>
          </a:lstStyle>
          <a:p xmlns:a="http://schemas.openxmlformats.org/drawingml/2006/main">
            <a:pPr>
              <a:defRPr sz="4050" b="1">
                <a:solidFill>
                  <a:srgbClr val="05244B"/>
                </a:solidFill>
                <a:latin typeface="Arial"/>
                <a:ea typeface="Arial"/>
                <a:cs typeface="Arial"/>
              </a:defRPr>
            </a:pPr>
            <a:r>
              <a:rPr sz="4050" b="1">
                <a:solidFill>
                  <a:srgbClr val="05244B"/>
                </a:solidFill>
                <a:latin typeface="Arial"/>
                <a:ea typeface="Arial"/>
                <a:cs typeface="Arial"/>
              </a:rPr>
              <a:t>Why choose Finora?</a:t>
            </a:r>
          </a:p>
        </p:txBody>
      </p:sp>
      <p:sp>
        <p:nvSpPr>
          <p:cNvPr id="4" name="01">
            <a:extLst xmlns:a="http://schemas.openxmlformats.org/drawingml/2006/main">
              <a:ext uri="{FF2B5EF4-FFF2-40B4-BE49-F238E27FC236}">
                <a16:creationId xmlns:a16="http://schemas.microsoft.com/office/drawing/2014/main" id="{4EA3DA98-646D-4BFC-A732-B3EB69113BEA}"/>
              </a:ext>
            </a:extLst>
          </p:cNvPr>
          <p:cNvSpPr>
            <a:spLocks xmlns:a="http://schemas.openxmlformats.org/drawingml/2006/main" noGrp="1"/>
          </p:cNvSpPr>
          <p:nvPr/>
        </p:nvSpPr>
        <p:spPr>
          <a:xfrm xmlns:a="http://schemas.openxmlformats.org/drawingml/2006/main">
            <a:off x="723900" y="270510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defRPr sz="2400" b="1">
                <a:solidFill>
                  <a:srgbClr val="008B7B"/>
                </a:solidFill>
                <a:latin typeface="Arial"/>
                <a:ea typeface="Arial"/>
                <a:cs typeface="Arial"/>
              </a:defRPr>
            </a:pPr>
            <a:r>
              <a:rPr sz="2400" b="1">
                <a:solidFill>
                  <a:srgbClr val="008B7B"/>
                </a:solidFill>
                <a:latin typeface="Arial"/>
                <a:ea typeface="Arial"/>
                <a:cs typeface="Arial"/>
              </a:rPr>
              <a:t>01</a:t>
            </a:r>
          </a:p>
        </p:txBody>
      </p:sp>
      <p:sp>
        <p:nvSpPr>
          <p:cNvPr id="5" name="Easy to understand">
            <a:extLst xmlns:a="http://schemas.openxmlformats.org/drawingml/2006/main">
              <a:ext uri="{FF2B5EF4-FFF2-40B4-BE49-F238E27FC236}">
                <a16:creationId xmlns:a16="http://schemas.microsoft.com/office/drawing/2014/main" id="{B5F267C0-7728-46B4-85AB-AAF18CC3ED9F}"/>
              </a:ext>
            </a:extLst>
          </p:cNvPr>
          <p:cNvSpPr>
            <a:spLocks xmlns:a="http://schemas.openxmlformats.org/drawingml/2006/main" noGrp="1"/>
          </p:cNvSpPr>
          <p:nvPr/>
        </p:nvSpPr>
        <p:spPr>
          <a:xfrm xmlns:a="http://schemas.openxmlformats.org/drawingml/2006/main">
            <a:off x="1609725" y="27051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Easy to understand</a:t>
            </a:r>
          </a:p>
        </p:txBody>
      </p:sp>
      <p:sp>
        <p:nvSpPr>
          <p:cNvPr id="6" name="Clear totals and category labels make the month easier to read.">
            <a:extLst xmlns:a="http://schemas.openxmlformats.org/drawingml/2006/main">
              <a:ext uri="{FF2B5EF4-FFF2-40B4-BE49-F238E27FC236}">
                <a16:creationId xmlns:a16="http://schemas.microsoft.com/office/drawing/2014/main" id="{93487B6C-747D-4241-AAB1-B1373AF9D199}"/>
              </a:ext>
            </a:extLst>
          </p:cNvPr>
          <p:cNvSpPr>
            <a:spLocks xmlns:a="http://schemas.openxmlformats.org/drawingml/2006/main" noGrp="1"/>
          </p:cNvSpPr>
          <p:nvPr/>
        </p:nvSpPr>
        <p:spPr>
          <a:xfrm xmlns:a="http://schemas.openxmlformats.org/drawingml/2006/main">
            <a:off x="1609725" y="315277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Clear totals and category labels make the month easier to read.</a:t>
            </a:r>
          </a:p>
        </p:txBody>
      </p:sp>
      <p:sp>
        <p:nvSpPr>
          <p:cNvPr id="7" name="02">
            <a:extLst xmlns:a="http://schemas.openxmlformats.org/drawingml/2006/main">
              <a:ext uri="{FF2B5EF4-FFF2-40B4-BE49-F238E27FC236}">
                <a16:creationId xmlns:a16="http://schemas.microsoft.com/office/drawing/2014/main" id="{134D8C18-5089-4873-8045-CE47CFBA9EC8}"/>
              </a:ext>
            </a:extLst>
          </p:cNvPr>
          <p:cNvSpPr>
            <a:spLocks xmlns:a="http://schemas.openxmlformats.org/drawingml/2006/main" noGrp="1"/>
          </p:cNvSpPr>
          <p:nvPr/>
        </p:nvSpPr>
        <p:spPr>
          <a:xfrm xmlns:a="http://schemas.openxmlformats.org/drawingml/2006/main">
            <a:off x="723900" y="371475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defRPr sz="2400" b="1">
                <a:solidFill>
                  <a:srgbClr val="008B7B"/>
                </a:solidFill>
                <a:latin typeface="Arial"/>
                <a:ea typeface="Arial"/>
                <a:cs typeface="Arial"/>
              </a:defRPr>
            </a:pPr>
            <a:r>
              <a:rPr sz="2400" b="1">
                <a:solidFill>
                  <a:srgbClr val="008B7B"/>
                </a:solidFill>
                <a:latin typeface="Arial"/>
                <a:ea typeface="Arial"/>
                <a:cs typeface="Arial"/>
              </a:rPr>
              <a:t>02</a:t>
            </a:r>
          </a:p>
        </p:txBody>
      </p:sp>
      <p:sp>
        <p:nvSpPr>
          <p:cNvPr id="8" name="You stay in control">
            <a:extLst xmlns:a="http://schemas.openxmlformats.org/drawingml/2006/main">
              <a:ext uri="{FF2B5EF4-FFF2-40B4-BE49-F238E27FC236}">
                <a16:creationId xmlns:a16="http://schemas.microsoft.com/office/drawing/2014/main" id="{06128D21-371D-45B7-AB4C-E05D24CD486B}"/>
              </a:ext>
            </a:extLst>
          </p:cNvPr>
          <p:cNvSpPr>
            <a:spLocks xmlns:a="http://schemas.openxmlformats.org/drawingml/2006/main" noGrp="1"/>
          </p:cNvSpPr>
          <p:nvPr/>
        </p:nvSpPr>
        <p:spPr>
          <a:xfrm xmlns:a="http://schemas.openxmlformats.org/drawingml/2006/main">
            <a:off x="1609725" y="37147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You stay in control</a:t>
            </a:r>
          </a:p>
        </p:txBody>
      </p:sp>
      <p:sp>
        <p:nvSpPr>
          <p:cNvPr id="9" name="Edit entries and adjust category budgets as your plans change.">
            <a:extLst xmlns:a="http://schemas.openxmlformats.org/drawingml/2006/main">
              <a:ext uri="{FF2B5EF4-FFF2-40B4-BE49-F238E27FC236}">
                <a16:creationId xmlns:a16="http://schemas.microsoft.com/office/drawing/2014/main" id="{AE18A198-812D-4467-B261-50A48748D709}"/>
              </a:ext>
            </a:extLst>
          </p:cNvPr>
          <p:cNvSpPr>
            <a:spLocks xmlns:a="http://schemas.openxmlformats.org/drawingml/2006/main" noGrp="1"/>
          </p:cNvSpPr>
          <p:nvPr/>
        </p:nvSpPr>
        <p:spPr>
          <a:xfrm xmlns:a="http://schemas.openxmlformats.org/drawingml/2006/main">
            <a:off x="1609725" y="416242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Edit entries and adjust category budgets as your plans change.</a:t>
            </a:r>
          </a:p>
        </p:txBody>
      </p:sp>
      <p:sp>
        <p:nvSpPr>
          <p:cNvPr id="10" name="03">
            <a:extLst xmlns:a="http://schemas.openxmlformats.org/drawingml/2006/main">
              <a:ext uri="{FF2B5EF4-FFF2-40B4-BE49-F238E27FC236}">
                <a16:creationId xmlns:a16="http://schemas.microsoft.com/office/drawing/2014/main" id="{F9A60959-6131-4B4C-BA84-CA2D9ECDD038}"/>
              </a:ext>
            </a:extLst>
          </p:cNvPr>
          <p:cNvSpPr>
            <a:spLocks xmlns:a="http://schemas.openxmlformats.org/drawingml/2006/main" noGrp="1"/>
          </p:cNvSpPr>
          <p:nvPr/>
        </p:nvSpPr>
        <p:spPr>
          <a:xfrm xmlns:a="http://schemas.openxmlformats.org/drawingml/2006/main">
            <a:off x="723900" y="472440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defRPr sz="2400" b="1">
                <a:solidFill>
                  <a:srgbClr val="008B7B"/>
                </a:solidFill>
                <a:latin typeface="Arial"/>
                <a:ea typeface="Arial"/>
                <a:cs typeface="Arial"/>
              </a:defRPr>
            </a:pPr>
            <a:r>
              <a:rPr sz="2400" b="1">
                <a:solidFill>
                  <a:srgbClr val="008B7B"/>
                </a:solidFill>
                <a:latin typeface="Arial"/>
                <a:ea typeface="Arial"/>
                <a:cs typeface="Arial"/>
              </a:rPr>
              <a:t>03</a:t>
            </a:r>
          </a:p>
        </p:txBody>
      </p:sp>
      <p:sp>
        <p:nvSpPr>
          <p:cNvPr id="11" name="Useful for everyday decisions">
            <a:extLst xmlns:a="http://schemas.openxmlformats.org/drawingml/2006/main">
              <a:ext uri="{FF2B5EF4-FFF2-40B4-BE49-F238E27FC236}">
                <a16:creationId xmlns:a16="http://schemas.microsoft.com/office/drawing/2014/main" id="{B65519FE-C18E-45EE-BD55-D269ABAAE4E4}"/>
              </a:ext>
            </a:extLst>
          </p:cNvPr>
          <p:cNvSpPr>
            <a:spLocks xmlns:a="http://schemas.openxmlformats.org/drawingml/2006/main" noGrp="1"/>
          </p:cNvSpPr>
          <p:nvPr/>
        </p:nvSpPr>
        <p:spPr>
          <a:xfrm xmlns:a="http://schemas.openxmlformats.org/drawingml/2006/main">
            <a:off x="1609725" y="47244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Useful for everyday decisions</a:t>
            </a:r>
          </a:p>
        </p:txBody>
      </p:sp>
      <p:sp>
        <p:nvSpPr>
          <p:cNvPr id="12" name="See remaining budgets before deciding on the next purchase.">
            <a:extLst xmlns:a="http://schemas.openxmlformats.org/drawingml/2006/main">
              <a:ext uri="{FF2B5EF4-FFF2-40B4-BE49-F238E27FC236}">
                <a16:creationId xmlns:a16="http://schemas.microsoft.com/office/drawing/2014/main" id="{20BA2D2F-DA73-4068-8BA9-4686979FCF46}"/>
              </a:ext>
            </a:extLst>
          </p:cNvPr>
          <p:cNvSpPr>
            <a:spLocks xmlns:a="http://schemas.openxmlformats.org/drawingml/2006/main" noGrp="1"/>
          </p:cNvSpPr>
          <p:nvPr/>
        </p:nvSpPr>
        <p:spPr>
          <a:xfrm xmlns:a="http://schemas.openxmlformats.org/drawingml/2006/main">
            <a:off x="1609725" y="517207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See remaining budgets before deciding on the next purchase.</a:t>
            </a:r>
          </a:p>
        </p:txBody>
      </p:sp>
      <p:sp>
        <p:nvSpPr>
          <p:cNvPr id="13" name="For people who want to actively track and review their spending.">
            <a:extLst xmlns:a="http://schemas.openxmlformats.org/drawingml/2006/main">
              <a:ext uri="{FF2B5EF4-FFF2-40B4-BE49-F238E27FC236}">
                <a16:creationId xmlns:a16="http://schemas.microsoft.com/office/drawing/2014/main" id="{8D4ADF00-994C-4ED2-BF8B-72331ED18F54}"/>
              </a:ext>
            </a:extLst>
          </p:cNvPr>
          <p:cNvSpPr>
            <a:spLocks xmlns:a="http://schemas.openxmlformats.org/drawingml/2006/main" noGrp="1"/>
          </p:cNvSpPr>
          <p:nvPr/>
        </p:nvSpPr>
        <p:spPr>
          <a:xfrm xmlns:a="http://schemas.openxmlformats.org/drawingml/2006/main">
            <a:off x="723900" y="590550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008B7B"/>
                </a:solidFill>
                <a:latin typeface="Arial"/>
                <a:ea typeface="Arial"/>
                <a:cs typeface="Arial"/>
              </a:defRPr>
            </a:defPPr>
          </a:lstStyle>
          <a:p xmlns:a="http://schemas.openxmlformats.org/drawingml/2006/main">
            <a:pPr>
              <a:defRPr sz="1800" b="0">
                <a:solidFill>
                  <a:srgbClr val="008B7B"/>
                </a:solidFill>
                <a:latin typeface="Arial"/>
                <a:ea typeface="Arial"/>
                <a:cs typeface="Arial"/>
              </a:defRPr>
            </a:pPr>
            <a:r>
              <a:rPr sz="1800" b="0">
                <a:solidFill>
                  <a:srgbClr val="008B7B"/>
                </a:solidFill>
                <a:latin typeface="Arial"/>
                <a:ea typeface="Arial"/>
                <a:cs typeface="Arial"/>
              </a:rPr>
              <a:t>For people who want to actively track and review their spending.</a:t>
            </a:r>
          </a:p>
        </p:txBody>
      </p:sp>
      <p:sp>
        <p:nvSpPr>
          <p:cNvPr id="14" name="">
            <a:extLst xmlns:a="http://schemas.openxmlformats.org/drawingml/2006/main">
              <a:ext uri="{FF2B5EF4-FFF2-40B4-BE49-F238E27FC236}">
                <a16:creationId xmlns:a16="http://schemas.microsoft.com/office/drawing/2014/main" id="{EE237EAA-7404-407A-A67D-F9C5AE3969A1}"/>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r>
              <a:t/>
            </a:r>
          </a:p>
        </p:txBody>
      </p:sp>
      <p:sp>
        <p:nvSpPr>
          <p:cNvPr id="15" name="09">
            <a:extLst xmlns:a="http://schemas.openxmlformats.org/drawingml/2006/main">
              <a:ext uri="{FF2B5EF4-FFF2-40B4-BE49-F238E27FC236}">
                <a16:creationId xmlns:a16="http://schemas.microsoft.com/office/drawing/2014/main" id="{AA4DF3D8-F3BC-42F6-86D3-A96EF41125A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09</a:t>
            </a:r>
          </a:p>
        </p:txBody>
      </p:sp>
    </p:spTree>
    <p:extLst>
      <p:ext uri="{BB962C8B-B14F-4D97-AF65-F5344CB8AC3E}">
        <p14:creationId xmlns:p14="http://schemas.microsoft.com/office/powerpoint/2010/main" val="2071356823"/>
      </p:ext>
    </p:extLst>
  </p:cSld>
</p:sld>
</file>

<file path=ppt/slides/slide10.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1E85E18-FC30-4C40-B46B-CB16280ECCDD}"/>
              </a:ext>
            </a:extLst>
          </p:cNvPr>
          <p:cNvPicPr>
            <a:picLocks xmlns:a="http://schemas.openxmlformats.org/drawingml/2006/main" noChangeAspect="1"/>
          </p:cNvPicPr>
          <p:nvPr/>
        </p:nvPicPr>
        <p:blipFill>
          <a:blip xmlns:r="http://schemas.openxmlformats.org/officeDocument/2006/relationships" xmlns:a="http://schemas.openxmlformats.org/drawingml/2006/main" r:embed="Rc3ae08348ac34d90"/>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0DBBAB07-77D3-4247-BAEE-BF4934E34919}"/>
              </a:ext>
            </a:extLst>
          </p:cNvPr>
          <p:cNvPicPr>
            <a:picLocks xmlns:a="http://schemas.openxmlformats.org/drawingml/2006/main" noChangeAspect="1"/>
          </p:cNvPicPr>
          <p:nvPr/>
        </p:nvPicPr>
        <p:blipFill>
          <a:blip xmlns:r="http://schemas.openxmlformats.org/officeDocument/2006/relationships" xmlns:a="http://schemas.openxmlformats.org/drawingml/2006/main" r:embed="R56e13f22a4b749c5"/>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clearer picture of&#10;everyday money">
            <a:extLst xmlns:a="http://schemas.openxmlformats.org/drawingml/2006/main">
              <a:ext uri="{FF2B5EF4-FFF2-40B4-BE49-F238E27FC236}">
                <a16:creationId xmlns:a16="http://schemas.microsoft.com/office/drawing/2014/main" id="{FC17DE41-12D9-4804-83F3-0F23FAA9A9D2}"/>
              </a:ext>
            </a:extLst>
          </p:cNvPr>
          <p:cNvSpPr>
            <a:spLocks xmlns:a="http://schemas.openxmlformats.org/drawingml/2006/main" noGrp="1"/>
          </p:cNvSpPr>
          <p:nvPr/>
        </p:nvSpPr>
        <p:spPr>
          <a:xfrm xmlns:a="http://schemas.openxmlformats.org/drawingml/2006/main">
            <a:off x="685800" y="1885950"/>
            <a:ext cx="10382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575" b="1">
                <a:solidFill>
                  <a:srgbClr val="05244B"/>
                </a:solidFill>
                <a:latin typeface="Arial"/>
                <a:ea typeface="Arial"/>
                <a:cs typeface="Arial"/>
              </a:defRPr>
            </a:defPPr>
          </a:lstStyle>
          <a:p xmlns:a="http://schemas.openxmlformats.org/drawingml/2006/main">
            <a:pPr>
              <a:buNone/>
              <a:defRPr sz="4575" b="1">
                <a:solidFill>
                  <a:srgbClr val="05244B"/>
                </a:solidFill>
                <a:latin typeface="Arial"/>
                <a:ea typeface="Arial"/>
                <a:cs typeface="Arial"/>
              </a:defRPr>
            </a:pPr>
            <a:r>
              <a:rPr sz="4575" b="1">
                <a:solidFill>
                  <a:srgbClr val="05244B"/>
                </a:solidFill>
                <a:latin typeface="Arial"/>
                <a:ea typeface="Arial"/>
                <a:cs typeface="Arial"/>
              </a:rPr>
              <a:t>Your spending, understood.</a:t>
            </a:r>
          </a:p>
          <a:p xmlns:a="http://schemas.openxmlformats.org/drawingml/2006/main">
            <a:pPr>
              <a:buNone/>
              <a:defRPr sz="4575" b="1">
                <a:solidFill>
                  <a:srgbClr val="05244B"/>
                </a:solidFill>
                <a:latin typeface="Arial"/>
                <a:ea typeface="Arial"/>
                <a:cs typeface="Arial"/>
              </a:defRPr>
            </a:pPr>
            <a:r>
              <a:rPr sz="4575" b="1">
                <a:solidFill>
                  <a:srgbClr val="05244B"/>
                </a:solidFill>
                <a:latin typeface="Arial"/>
                <a:ea typeface="Arial"/>
                <a:cs typeface="Arial"/>
              </a:rPr>
              <a:t>Your next step, clearer.</a:t>
            </a:r>
          </a:p>
        </p:txBody>
      </p:sp>
      <p:sp>
        <p:nvSpPr>
          <p:cNvPr id="4" name="Finora brings spending and monthly budgets&#10;together, so the numbe">
            <a:extLst xmlns:a="http://schemas.openxmlformats.org/drawingml/2006/main">
              <a:ext uri="{FF2B5EF4-FFF2-40B4-BE49-F238E27FC236}">
                <a16:creationId xmlns:a16="http://schemas.microsoft.com/office/drawing/2014/main" id="{CA8B7103-EC8D-4481-BCA7-B320D5127D0B}"/>
              </a:ext>
            </a:extLst>
          </p:cNvPr>
          <p:cNvSpPr>
            <a:spLocks xmlns:a="http://schemas.openxmlformats.org/drawingml/2006/main" noGrp="1"/>
          </p:cNvSpPr>
          <p:nvPr/>
        </p:nvSpPr>
        <p:spPr>
          <a:xfrm xmlns:a="http://schemas.openxmlformats.org/drawingml/2006/main">
            <a:off x="723900" y="3924300"/>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607589"/>
                </a:solidFill>
                <a:latin typeface="Arial"/>
                <a:ea typeface="Arial"/>
                <a:cs typeface="Arial"/>
              </a:defRPr>
            </a:defPPr>
          </a:lstStyle>
          <a:p xmlns:a="http://schemas.openxmlformats.org/drawingml/2006/main">
            <a:pPr>
              <a:buNone/>
              <a:defRPr sz="2325" b="0">
                <a:solidFill>
                  <a:srgbClr val="607589"/>
                </a:solidFill>
                <a:latin typeface="Arial"/>
                <a:ea typeface="Arial"/>
                <a:cs typeface="Arial"/>
              </a:defRPr>
            </a:pPr>
            <a:r>
              <a:rPr sz="2325" b="0">
                <a:solidFill>
                  <a:srgbClr val="607589"/>
                </a:solidFill>
                <a:latin typeface="Arial"/>
                <a:ea typeface="Arial"/>
                <a:cs typeface="Arial"/>
              </a:rPr>
              <a:t>Finora connects each expense to its budget</a:t>
            </a:r>
          </a:p>
          <a:p xmlns:a="http://schemas.openxmlformats.org/drawingml/2006/main">
            <a:pPr>
              <a:buNone/>
              <a:defRPr sz="2325" b="0">
                <a:solidFill>
                  <a:srgbClr val="607589"/>
                </a:solidFill>
                <a:latin typeface="Arial"/>
                <a:ea typeface="Arial"/>
                <a:cs typeface="Arial"/>
              </a:defRPr>
            </a:pPr>
            <a:r>
              <a:rPr sz="2325" b="0">
                <a:solidFill>
                  <a:srgbClr val="607589"/>
                </a:solidFill>
                <a:latin typeface="Arial"/>
                <a:ea typeface="Arial"/>
                <a:cs typeface="Arial"/>
              </a:rPr>
              <a:t>and to the bigger picture of your month.</a:t>
            </a:r>
          </a:p>
        </p:txBody>
      </p:sp>
      <p:sp>
        <p:nvSpPr>
          <p:cNvPr id="5" name="Live demo &amp; questions">
            <a:extLst xmlns:a="http://schemas.openxmlformats.org/drawingml/2006/main">
              <a:ext uri="{FF2B5EF4-FFF2-40B4-BE49-F238E27FC236}">
                <a16:creationId xmlns:a16="http://schemas.microsoft.com/office/drawing/2014/main" id="{921FAE4B-0D13-4504-A9DE-33258E480D37}"/>
              </a:ext>
            </a:extLst>
          </p:cNvPr>
          <p:cNvSpPr>
            <a:spLocks xmlns:a="http://schemas.openxmlformats.org/drawingml/2006/main" noGrp="1"/>
          </p:cNvSpPr>
          <p:nvPr/>
        </p:nvSpPr>
        <p:spPr>
          <a:xfrm xmlns:a="http://schemas.openxmlformats.org/drawingml/2006/main">
            <a:off x="723900" y="54864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1">
                <a:solidFill>
                  <a:srgbClr val="008B7B"/>
                </a:solidFill>
                <a:latin typeface="Arial"/>
                <a:ea typeface="Arial"/>
                <a:cs typeface="Arial"/>
              </a:defRPr>
            </a:defPPr>
          </a:lstStyle>
          <a:p xmlns:a="http://schemas.openxmlformats.org/drawingml/2006/main">
            <a:pPr>
              <a:buNone/>
              <a:defRPr sz="2850" b="1">
                <a:solidFill>
                  <a:srgbClr val="008B7B"/>
                </a:solidFill>
                <a:latin typeface="Arial"/>
                <a:ea typeface="Arial"/>
                <a:cs typeface="Arial"/>
              </a:defRPr>
            </a:pPr>
            <a:r>
              <a:rPr sz="2850" b="1">
                <a:solidFill>
                  <a:srgbClr val="008B7B"/>
                </a:solidFill>
                <a:latin typeface="Arial"/>
                <a:ea typeface="Arial"/>
                <a:cs typeface="Arial"/>
              </a:rPr>
              <a:t>Live demo &amp; questions</a:t>
            </a:r>
          </a:p>
        </p:txBody>
      </p:sp>
      <p:sp>
        <p:nvSpPr>
          <p:cNvPr id="6" name="Team 4">
            <a:extLst xmlns:a="http://schemas.openxmlformats.org/drawingml/2006/main">
              <a:ext uri="{FF2B5EF4-FFF2-40B4-BE49-F238E27FC236}">
                <a16:creationId xmlns:a16="http://schemas.microsoft.com/office/drawing/2014/main" id="{8E9F9D69-147E-43B6-9ADF-B4D05A2C0845}"/>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Team 4</a:t>
            </a:r>
          </a:p>
        </p:txBody>
      </p:sp>
      <p:sp>
        <p:nvSpPr>
          <p:cNvPr id="7" name="07">
            <a:extLst xmlns:a="http://schemas.openxmlformats.org/drawingml/2006/main">
              <a:ext uri="{FF2B5EF4-FFF2-40B4-BE49-F238E27FC236}">
                <a16:creationId xmlns:a16="http://schemas.microsoft.com/office/drawing/2014/main" id="{4F96EF31-02D1-401E-B25D-55A37F2D9017}"/>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10</a:t>
            </a:r>
          </a:p>
        </p:txBody>
      </p:sp>
    </p:spTree>
    <p:extLst>
      <p:ext uri="{BB962C8B-B14F-4D97-AF65-F5344CB8AC3E}">
        <p14:creationId xmlns:p14="http://schemas.microsoft.com/office/powerpoint/2010/main" val="1299882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2026-10-11T23:40:48.4230000Z</dcterms:created>
  <dcterms:modified xsi:type="dcterms:W3CDTF">2026-10-11T23:40:48.4230000Z</dcterms:modified>
</coreProperties>
</file>